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0"/>
  </p:notesMasterIdLst>
  <p:sldIdLst>
    <p:sldId id="256" r:id="rId2"/>
    <p:sldId id="269" r:id="rId3"/>
    <p:sldId id="257" r:id="rId4"/>
    <p:sldId id="274" r:id="rId5"/>
    <p:sldId id="273" r:id="rId6"/>
    <p:sldId id="272" r:id="rId7"/>
    <p:sldId id="271" r:id="rId8"/>
    <p:sldId id="275" r:id="rId9"/>
    <p:sldId id="279" r:id="rId10"/>
    <p:sldId id="280" r:id="rId11"/>
    <p:sldId id="276" r:id="rId12"/>
    <p:sldId id="281" r:id="rId13"/>
    <p:sldId id="277" r:id="rId14"/>
    <p:sldId id="282" r:id="rId15"/>
    <p:sldId id="278" r:id="rId16"/>
    <p:sldId id="270" r:id="rId17"/>
    <p:sldId id="265" r:id="rId18"/>
    <p:sldId id="26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C71D02-D340-430B-AE6A-E9951D17E027}" v="8" dt="2025-09-05T09:06:05.385"/>
    <p1510:client id="{15A4A743-3A37-C33F-1120-61445C79DD5D}" v="321" dt="2025-09-05T11:01:17.033"/>
    <p1510:client id="{65763E43-6146-86E9-E161-724F91D30E62}" v="31" dt="2025-09-05T13:15:25.841"/>
    <p1510:client id="{CC837E9B-CFE1-15C4-CAEB-28028E619304}" v="95" dt="2025-09-05T13:09:58.879"/>
    <p1510:client id="{DCBDF704-27E4-83A9-1AC0-BBBCE955E855}" v="340" dt="2025-09-05T12:57:29.620"/>
  </p1510:revLst>
</p1510:revInfo>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70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GB" sz="2400">
                <a:solidFill>
                  <a:schemeClr val="tx1"/>
                </a:solidFill>
                <a:latin typeface="Times New Roman"/>
              </a:rPr>
              <a:t>Online Chatbot based ticketing system</a:t>
            </a:r>
            <a:endParaRPr sz="240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indent="0" algn="l">
              <a:spcBef>
                <a:spcPts val="0"/>
              </a:spcBef>
            </a:pPr>
            <a:r>
              <a:rPr lang="en-GB" sz="1800">
                <a:latin typeface="Cambria" panose="02040503050406030204" pitchFamily="18" charset="0"/>
                <a:ea typeface="Cambria" panose="02040503050406030204" pitchFamily="18" charset="0"/>
              </a:rPr>
              <a:t>Batch Number:</a:t>
            </a:r>
            <a:r>
              <a:rPr lang="en-GB" sz="1800" b="0">
                <a:solidFill>
                  <a:schemeClr val="tx1"/>
                </a:solidFill>
                <a:latin typeface="Cambria"/>
              </a:rPr>
              <a:t>CSE_130</a:t>
            </a:r>
            <a:endParaRPr lang="en-US" sz="1800">
              <a:solidFill>
                <a:schemeClr val="tx1"/>
              </a:solidFill>
              <a:latin typeface="Cambria"/>
              <a:ea typeface="Cambria" panose="02040503050406030204" pitchFamily="18" charset="0"/>
            </a:endParaRPr>
          </a:p>
          <a:p>
            <a:pPr marL="0" lvl="0" indent="0" algn="l" rtl="0">
              <a:spcBef>
                <a:spcPts val="0"/>
              </a:spcBef>
              <a:spcAft>
                <a:spcPts val="0"/>
              </a:spcAft>
              <a:buClr>
                <a:srgbClr val="17365D"/>
              </a:buClr>
              <a:buSzPts val="2000"/>
              <a:buNone/>
            </a:pPr>
            <a:endParaRPr sz="180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a:solidFill>
                <a:srgbClr val="17365D"/>
              </a:solidFill>
              <a:latin typeface="Cambria" panose="02040503050406030204" pitchFamily="18" charset="0"/>
              <a:ea typeface="Cambria" panose="02040503050406030204" pitchFamily="18" charset="0"/>
              <a:cs typeface="Verdana"/>
              <a:sym typeface="Verdana"/>
            </a:endParaRPr>
          </a:p>
          <a:p>
            <a:pPr>
              <a:spcBef>
                <a:spcPts val="340"/>
              </a:spcBef>
              <a:buClr>
                <a:srgbClr val="17365D"/>
              </a:buClr>
              <a:buSzPts val="1700"/>
            </a:pPr>
            <a:r>
              <a:rPr lang="en-US" sz="1700" b="1" err="1">
                <a:solidFill>
                  <a:srgbClr val="17365D"/>
                </a:solidFill>
                <a:latin typeface="Cambria"/>
                <a:ea typeface="Cambria"/>
                <a:sym typeface="Verdana"/>
              </a:rPr>
              <a:t>Mr.Afroj</a:t>
            </a:r>
            <a:r>
              <a:rPr lang="en-US" sz="1700" b="1">
                <a:solidFill>
                  <a:srgbClr val="17365D"/>
                </a:solidFill>
                <a:latin typeface="Cambria"/>
                <a:ea typeface="Cambria"/>
                <a:sym typeface="Verdana"/>
              </a:rPr>
              <a:t> Alam</a:t>
            </a:r>
            <a:endParaRPr lang="en-US" sz="1800" b="1">
              <a:latin typeface="Cambria"/>
              <a:ea typeface="Cambria" panose="02040503050406030204" pitchFamily="18" charset="0"/>
            </a:endParaRPr>
          </a:p>
          <a:p>
            <a:pPr>
              <a:spcBef>
                <a:spcPts val="340"/>
              </a:spcBef>
              <a:buClr>
                <a:srgbClr val="17365D"/>
              </a:buClr>
              <a:buSzPts val="1700"/>
            </a:pPr>
            <a:r>
              <a:rPr lang="en-US" sz="1700" b="1">
                <a:solidFill>
                  <a:srgbClr val="17365D"/>
                </a:solidFill>
                <a:latin typeface="Cambria"/>
                <a:ea typeface="Cambria"/>
                <a:cs typeface="Verdana"/>
                <a:sym typeface="Verdana"/>
              </a:rPr>
              <a:t>Assistant Professor</a:t>
            </a:r>
            <a:endParaRPr lang="en-US" sz="1800" b="1">
              <a:latin typeface="Cambria"/>
              <a:ea typeface="Cambria"/>
            </a:endParaRPr>
          </a:p>
          <a:p>
            <a:pPr lvl="0">
              <a:spcBef>
                <a:spcPts val="340"/>
              </a:spcBef>
              <a:buClr>
                <a:srgbClr val="17365D"/>
              </a:buClr>
              <a:buSzPts val="1700"/>
            </a:pPr>
            <a:r>
              <a:rPr lang="en-US" sz="1700" b="1">
                <a:solidFill>
                  <a:srgbClr val="17365D"/>
                </a:solidFill>
                <a:latin typeface="Cambria"/>
                <a:ea typeface="Cambria"/>
                <a:cs typeface="Verdana"/>
                <a:sym typeface="Verdana"/>
              </a:rPr>
              <a:t>School of Computer Science and Engineering</a:t>
            </a:r>
            <a:endParaRPr lang="en-US" sz="1800" b="1">
              <a:latin typeface="Cambria"/>
              <a:ea typeface="Cambria"/>
            </a:endParaRPr>
          </a:p>
          <a:p>
            <a:pPr lvl="0">
              <a:spcBef>
                <a:spcPts val="340"/>
              </a:spcBef>
              <a:buClr>
                <a:srgbClr val="17365D"/>
              </a:buClr>
              <a:buSzPts val="1700"/>
            </a:pPr>
            <a:r>
              <a:rPr lang="en-US" sz="1700" b="1">
                <a:solidFill>
                  <a:srgbClr val="17365D"/>
                </a:solidFill>
                <a:latin typeface="Cambria"/>
                <a:ea typeface="Cambria"/>
                <a:cs typeface="Verdana"/>
                <a:sym typeface="Verdana"/>
              </a:rPr>
              <a:t>Presidency University</a:t>
            </a:r>
            <a:endParaRPr lang="en-US" sz="1800" b="1">
              <a:latin typeface="Cambria"/>
              <a:ea typeface="Cambria"/>
            </a:endParaRPr>
          </a:p>
          <a:p>
            <a:pPr marL="0" marR="0" lvl="0" indent="0" algn="l" rtl="0">
              <a:spcBef>
                <a:spcPts val="400"/>
              </a:spcBef>
              <a:spcAft>
                <a:spcPts val="0"/>
              </a:spcAft>
              <a:buClr>
                <a:srgbClr val="17365D"/>
              </a:buClr>
              <a:buSzPts val="2000"/>
              <a:buFont typeface="Arial"/>
              <a:buNone/>
            </a:pPr>
            <a:endParaRPr sz="2000" b="1" i="0" u="none" strike="noStrike" cap="none">
              <a:solidFill>
                <a:srgbClr val="17365D"/>
              </a:solidFill>
              <a:latin typeface="Cambria" panose="02040503050406030204" pitchFamily="18" charset="0"/>
              <a:ea typeface="Cambria" panose="02040503050406030204" pitchFamily="18" charset="0"/>
              <a:cs typeface="Verdana"/>
              <a:sym typeface="Verdana"/>
            </a:endParaRPr>
          </a:p>
        </p:txBody>
      </p:sp>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a:solidFill>
                  <a:srgbClr val="17365D"/>
                </a:solidFill>
                <a:latin typeface="Cambria" panose="02040503050406030204" pitchFamily="18" charset="0"/>
                <a:ea typeface="Cambria" panose="02040503050406030204" pitchFamily="18" charset="0"/>
                <a:cs typeface="Verdana"/>
                <a:sym typeface="Verdana"/>
              </a:rPr>
              <a:t> Capstone Project</a:t>
            </a:r>
            <a:endParaRPr sz="180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a:solidFill>
                  <a:srgbClr val="17365D"/>
                </a:solidFill>
                <a:latin typeface="Cambria" panose="02040503050406030204" pitchFamily="18" charset="0"/>
                <a:ea typeface="Cambria" panose="02040503050406030204" pitchFamily="18" charset="0"/>
                <a:cs typeface="Verdana"/>
                <a:sym typeface="Verdana"/>
              </a:rPr>
              <a:t>Review-2</a:t>
            </a:r>
            <a:endParaRPr sz="1800" b="1" i="0" u="none" strike="noStrike" cap="none">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1800" b="1" i="0" u="none" strike="noStrike" cap="none">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err="1">
                <a:solidFill>
                  <a:schemeClr val="tx1"/>
                </a:solidFill>
                <a:latin typeface="Cambria"/>
                <a:ea typeface="Cambria"/>
                <a:cs typeface="Verdana"/>
                <a:sym typeface="Verdana"/>
              </a:rPr>
              <a:t>B.Tech</a:t>
            </a:r>
            <a:r>
              <a:rPr lang="en-US" sz="1800" b="1">
                <a:solidFill>
                  <a:schemeClr val="tx1"/>
                </a:solidFill>
                <a:latin typeface="Cambria"/>
                <a:ea typeface="Cambria"/>
                <a:cs typeface="Verdana"/>
                <a:sym typeface="Verdana"/>
              </a:rPr>
              <a:t> CSE</a:t>
            </a:r>
            <a:endParaRPr lang="en-US" sz="1800" b="1" i="0" u="none" strike="noStrike" cap="none">
              <a:solidFill>
                <a:schemeClr val="accent1"/>
              </a:solidFill>
              <a:latin typeface="Cambria" panose="02040503050406030204" pitchFamily="18" charset="0"/>
              <a:ea typeface="Cambria" panose="02040503050406030204" pitchFamily="18" charset="0"/>
              <a:cs typeface="Verdana"/>
              <a:sym typeface="Verdana"/>
            </a:endParaRPr>
          </a:p>
          <a:p>
            <a:pPr>
              <a:buClr>
                <a:srgbClr val="17365D"/>
              </a:buClr>
              <a:buSzPct val="100000"/>
            </a:pPr>
            <a:r>
              <a:rPr lang="en-US" sz="1800" b="1">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a:solidFill>
                  <a:schemeClr val="tx1"/>
                </a:solidFill>
                <a:latin typeface="Cambria"/>
                <a:ea typeface="Cambria"/>
                <a:sym typeface="Verdana"/>
              </a:rPr>
              <a:t>Dr. Asif Mohammed</a:t>
            </a:r>
            <a:endParaRPr lang="en-US" sz="1800" b="1">
              <a:solidFill>
                <a:srgbClr val="FF0000"/>
              </a:solidFill>
              <a:latin typeface="Cambria" panose="02040503050406030204" pitchFamily="18" charset="0"/>
              <a:ea typeface="Cambria" panose="02040503050406030204" pitchFamily="18" charset="0"/>
              <a:cs typeface="Verdana"/>
              <a:sym typeface="Verdana"/>
            </a:endParaRPr>
          </a:p>
          <a:p>
            <a:pPr>
              <a:buClr>
                <a:srgbClr val="17365D"/>
              </a:buClr>
              <a:buSzPct val="100000"/>
            </a:pPr>
            <a:r>
              <a:rPr lang="en-US" sz="1800" b="1" i="0" u="none" strike="noStrike" cap="none">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a:solidFill>
                  <a:schemeClr val="tx1"/>
                </a:solidFill>
                <a:latin typeface="Cambria"/>
                <a:ea typeface="Cambria"/>
                <a:sym typeface="Verdana"/>
              </a:rPr>
              <a:t>Dr. </a:t>
            </a:r>
            <a:r>
              <a:rPr lang="en-US" sz="1800" b="1" err="1">
                <a:solidFill>
                  <a:schemeClr val="tx1"/>
                </a:solidFill>
                <a:latin typeface="Cambria"/>
                <a:ea typeface="Cambria"/>
                <a:sym typeface="Verdana"/>
              </a:rPr>
              <a:t>Jayavadivel</a:t>
            </a:r>
            <a:r>
              <a:rPr lang="en-US" sz="1800" b="1">
                <a:solidFill>
                  <a:schemeClr val="tx1"/>
                </a:solidFill>
                <a:latin typeface="Cambria"/>
                <a:ea typeface="Cambria"/>
                <a:sym typeface="Verdana"/>
              </a:rPr>
              <a:t> Ravi</a:t>
            </a:r>
            <a:endParaRPr lang="en-US" sz="1800" b="1">
              <a:solidFill>
                <a:schemeClr val="tx1"/>
              </a:solidFill>
              <a:latin typeface="Cambria"/>
              <a:ea typeface="Cambria"/>
            </a:endParaRPr>
          </a:p>
          <a:p>
            <a:pPr lvl="0">
              <a:buClr>
                <a:srgbClr val="17365D"/>
              </a:buClr>
              <a:buSzPct val="100000"/>
            </a:pPr>
            <a:r>
              <a:rPr lang="en-US" sz="1800" b="1">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2" name="Table 1">
            <a:extLst>
              <a:ext uri="{FF2B5EF4-FFF2-40B4-BE49-F238E27FC236}">
                <a16:creationId xmlns:a16="http://schemas.microsoft.com/office/drawing/2014/main" id="{A13E24A1-A895-4D00-2400-CB17A79231A0}"/>
              </a:ext>
            </a:extLst>
          </p:cNvPr>
          <p:cNvGraphicFramePr>
            <a:graphicFrameLocks noGrp="1"/>
          </p:cNvGraphicFramePr>
          <p:nvPr>
            <p:extLst>
              <p:ext uri="{D42A27DB-BD31-4B8C-83A1-F6EECF244321}">
                <p14:modId xmlns:p14="http://schemas.microsoft.com/office/powerpoint/2010/main" val="367346206"/>
              </p:ext>
            </p:extLst>
          </p:nvPr>
        </p:nvGraphicFramePr>
        <p:xfrm>
          <a:off x="609452" y="2543770"/>
          <a:ext cx="5362617" cy="3017580"/>
        </p:xfrm>
        <a:graphic>
          <a:graphicData uri="http://schemas.openxmlformats.org/drawingml/2006/table">
            <a:tbl>
              <a:tblPr firstRow="1" bandRow="1">
                <a:noFill/>
                <a:tableStyleId>{57690726-49DA-4552-BDEB-330DD8EA8BD9}</a:tableStyleId>
              </a:tblPr>
              <a:tblGrid>
                <a:gridCol w="2101102">
                  <a:extLst>
                    <a:ext uri="{9D8B030D-6E8A-4147-A177-3AD203B41FA5}">
                      <a16:colId xmlns:a16="http://schemas.microsoft.com/office/drawing/2014/main" val="2205997511"/>
                    </a:ext>
                  </a:extLst>
                </a:gridCol>
                <a:gridCol w="3261515">
                  <a:extLst>
                    <a:ext uri="{9D8B030D-6E8A-4147-A177-3AD203B41FA5}">
                      <a16:colId xmlns:a16="http://schemas.microsoft.com/office/drawing/2014/main" val="2691827804"/>
                    </a:ext>
                  </a:extLst>
                </a:gridCol>
              </a:tblGrid>
              <a:tr h="208072">
                <a:tc>
                  <a:txBody>
                    <a:bodyPr/>
                    <a:lstStyle/>
                    <a:p>
                      <a:pPr marL="0" marR="0" lvl="1" indent="0" algn="ctr" rtl="0">
                        <a:spcBef>
                          <a:spcPts val="0"/>
                        </a:spcBef>
                        <a:spcAft>
                          <a:spcPts val="0"/>
                        </a:spcAft>
                        <a:buNone/>
                      </a:pPr>
                      <a:r>
                        <a:rPr lang="en-GB" sz="1800" b="1" u="none" strike="noStrike" cap="none">
                          <a:solidFill>
                            <a:srgbClr val="17365D"/>
                          </a:solidFill>
                        </a:rPr>
                        <a:t>Roll Number</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a:solidFill>
                            <a:srgbClr val="17365D"/>
                          </a:solidFill>
                        </a:rPr>
                        <a:t>Student Name</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4260265536"/>
                  </a:ext>
                </a:extLst>
              </a:tr>
              <a:tr h="676220">
                <a:tc>
                  <a:txBody>
                    <a:bodyPr/>
                    <a:lstStyle/>
                    <a:p>
                      <a:pPr marL="0" marR="0" lvl="0" indent="0" algn="ctr" rtl="0">
                        <a:spcBef>
                          <a:spcPts val="0"/>
                        </a:spcBef>
                        <a:spcAft>
                          <a:spcPts val="0"/>
                        </a:spcAft>
                        <a:buFont typeface="+mj-lt"/>
                        <a:buNone/>
                      </a:pPr>
                      <a:r>
                        <a:rPr lang="en-US" sz="1800" u="none" strike="noStrike" cap="none">
                          <a:latin typeface="Bookman Old Style"/>
                        </a:rPr>
                        <a:t>20221CSE0359 20221CSE0256</a:t>
                      </a:r>
                    </a:p>
                    <a:p>
                      <a:pPr marL="0" marR="0" lvl="0" indent="0" algn="ctr">
                        <a:spcBef>
                          <a:spcPts val="0"/>
                        </a:spcBef>
                        <a:spcAft>
                          <a:spcPts val="0"/>
                        </a:spcAft>
                        <a:buFont typeface="+mj-lt"/>
                        <a:buNone/>
                      </a:pPr>
                      <a:r>
                        <a:rPr lang="en-US" sz="1800" u="none" strike="noStrike" cap="none">
                          <a:latin typeface="Bookman Old Style"/>
                        </a:rPr>
                        <a:t>20221CSE0274</a:t>
                      </a:r>
                    </a:p>
                    <a:p>
                      <a:pPr marL="0" marR="0" lvl="0" indent="0" algn="ctr">
                        <a:spcBef>
                          <a:spcPts val="0"/>
                        </a:spcBef>
                        <a:spcAft>
                          <a:spcPts val="0"/>
                        </a:spcAft>
                        <a:buFont typeface="+mj-lt"/>
                        <a:buNone/>
                      </a:pPr>
                      <a:endParaRPr lang="en-US" sz="1800" u="none" strike="noStrike" cap="none">
                        <a:latin typeface="Bookman Old Style"/>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a:latin typeface="Bookman Old Style"/>
                        </a:rPr>
                        <a:t>Spandana KG</a:t>
                      </a:r>
                    </a:p>
                    <a:p>
                      <a:pPr marL="0" marR="0" lvl="0" indent="0" algn="ctr">
                        <a:spcBef>
                          <a:spcPts val="0"/>
                        </a:spcBef>
                        <a:spcAft>
                          <a:spcPts val="0"/>
                        </a:spcAft>
                        <a:buNone/>
                      </a:pPr>
                      <a:r>
                        <a:rPr lang="en-US" sz="1800" u="none" strike="noStrike" cap="none">
                          <a:latin typeface="Bookman Old Style"/>
                        </a:rPr>
                        <a:t>Misba Ain</a:t>
                      </a:r>
                    </a:p>
                    <a:p>
                      <a:pPr marL="0" marR="0" lvl="0" indent="0" algn="ctr">
                        <a:spcBef>
                          <a:spcPts val="0"/>
                        </a:spcBef>
                        <a:spcAft>
                          <a:spcPts val="0"/>
                        </a:spcAft>
                        <a:buNone/>
                      </a:pPr>
                      <a:r>
                        <a:rPr lang="en-US" sz="1800" u="none" strike="noStrike" cap="none">
                          <a:latin typeface="Bookman Old Style"/>
                        </a:rPr>
                        <a:t>M Priyanka</a:t>
                      </a:r>
                    </a:p>
                    <a:p>
                      <a:pPr marL="0" marR="0" lvl="0" indent="0" algn="ctr">
                        <a:spcBef>
                          <a:spcPts val="0"/>
                        </a:spcBef>
                        <a:spcAft>
                          <a:spcPts val="0"/>
                        </a:spcAft>
                        <a:buNone/>
                      </a:pPr>
                      <a:endParaRPr lang="en-US" sz="1800" u="none" strike="noStrike" cap="none">
                        <a:latin typeface="Bookman Old Style"/>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3335774471"/>
                  </a:ext>
                </a:extLst>
              </a:tr>
              <a:tr h="208072">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2920973991"/>
                  </a:ext>
                </a:extLst>
              </a:tr>
              <a:tr h="190894">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3442158319"/>
                  </a:ext>
                </a:extLst>
              </a:tr>
              <a:tr h="208072">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2768118333"/>
                  </a:ext>
                </a:extLst>
              </a:tr>
              <a:tr h="208072">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3007567936"/>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a:latin typeface="Cambria" panose="02040503050406030204" pitchFamily="18" charset="0"/>
                <a:ea typeface="Cambria" panose="02040503050406030204" pitchFamily="18" charset="0"/>
              </a:rPr>
              <a:t>Problem Statement Number: </a:t>
            </a:r>
            <a:endParaRPr>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2500" lnSpcReduction="10000"/>
          </a:bodyPr>
          <a:lstStyle/>
          <a:p>
            <a:pPr marL="342900" indent="-190500" algn="just">
              <a:spcBef>
                <a:spcPts val="0"/>
              </a:spcBef>
              <a:buNone/>
            </a:pPr>
            <a:r>
              <a:rPr lang="en-US">
                <a:latin typeface="Cambria"/>
                <a:ea typeface="Cambria"/>
              </a:rPr>
              <a:t>Organization: Travel &amp; Tourism </a:t>
            </a:r>
            <a:endParaRPr lang="en-US" sz="1800">
              <a:latin typeface="Cambria"/>
              <a:ea typeface="Cambria"/>
            </a:endParaRPr>
          </a:p>
          <a:p>
            <a:pPr marL="342900" indent="-190500" algn="just">
              <a:spcBef>
                <a:spcPts val="0"/>
              </a:spcBef>
              <a:buNone/>
            </a:pPr>
            <a:endParaRPr lang="en-US" sz="1800">
              <a:latin typeface="Cambria"/>
              <a:ea typeface="Cambria"/>
            </a:endParaRPr>
          </a:p>
          <a:p>
            <a:pPr marL="342900" indent="-190500" algn="just">
              <a:spcBef>
                <a:spcPts val="0"/>
              </a:spcBef>
              <a:buNone/>
            </a:pPr>
            <a:r>
              <a:rPr lang="en-US">
                <a:latin typeface="Cambria"/>
                <a:ea typeface="Cambria"/>
              </a:rPr>
              <a:t>Category (Hardware / Software / Both) : Software </a:t>
            </a:r>
            <a:endParaRPr lang="en-US" sz="1800">
              <a:latin typeface="Cambria" panose="02040503050406030204" pitchFamily="18" charset="0"/>
              <a:ea typeface="Cambria" panose="02040503050406030204" pitchFamily="18" charset="0"/>
            </a:endParaRPr>
          </a:p>
          <a:p>
            <a:pPr marL="342900" indent="-190500" algn="just">
              <a:spcBef>
                <a:spcPts val="0"/>
              </a:spcBef>
              <a:buNone/>
            </a:pPr>
            <a:endParaRPr lang="en-US" sz="1800">
              <a:latin typeface="Cambria"/>
              <a:ea typeface="Cambria"/>
            </a:endParaRPr>
          </a:p>
          <a:p>
            <a:pPr marL="342900" indent="-190500" algn="just">
              <a:spcBef>
                <a:spcPts val="0"/>
              </a:spcBef>
              <a:buNone/>
            </a:pPr>
            <a:r>
              <a:rPr lang="en-US">
                <a:latin typeface="Cambria"/>
                <a:ea typeface="Cambria"/>
              </a:rPr>
              <a:t>Problem Description:</a:t>
            </a:r>
            <a:endParaRPr lang="en-US">
              <a:latin typeface="Cambria" panose="02040503050406030204" pitchFamily="18" charset="0"/>
              <a:ea typeface="Cambria" panose="02040503050406030204" pitchFamily="18" charset="0"/>
            </a:endParaRPr>
          </a:p>
          <a:p>
            <a:pPr marL="342900" indent="-190500" algn="just">
              <a:spcBef>
                <a:spcPts val="0"/>
              </a:spcBef>
              <a:buNone/>
            </a:pPr>
            <a:r>
              <a:rPr lang="en-US">
                <a:latin typeface="Times New Roman"/>
              </a:rPr>
              <a:t>The implementation of a chatbot for ticket booking in a museum addresses several critical needs, enhancing the overall visitor experience and streamlining museum operations. Here are the key reasons for adopting a chatbot ticket booking system: </a:t>
            </a:r>
          </a:p>
          <a:p>
            <a:pPr marL="342900" indent="-190500" algn="just">
              <a:spcBef>
                <a:spcPts val="0"/>
              </a:spcBef>
              <a:buNone/>
            </a:pPr>
            <a:r>
              <a:rPr lang="en-US">
                <a:latin typeface="Times New Roman"/>
              </a:rPr>
              <a:t>1. Improved Customer Service</a:t>
            </a:r>
          </a:p>
          <a:p>
            <a:pPr marL="342900" indent="-190500" algn="just">
              <a:spcBef>
                <a:spcPts val="0"/>
              </a:spcBef>
              <a:buNone/>
            </a:pPr>
            <a:r>
              <a:rPr lang="en-US">
                <a:latin typeface="Times New Roman"/>
              </a:rPr>
              <a:t>2. Efficient Handling of High Volumes </a:t>
            </a:r>
          </a:p>
          <a:p>
            <a:pPr marL="342900" indent="-190500" algn="just">
              <a:spcBef>
                <a:spcPts val="0"/>
              </a:spcBef>
              <a:buNone/>
            </a:pPr>
            <a:r>
              <a:rPr lang="en-US">
                <a:latin typeface="Times New Roman"/>
              </a:rPr>
              <a:t>3. Cost-Effective Solution </a:t>
            </a:r>
          </a:p>
          <a:p>
            <a:pPr marL="342900" indent="-190500" algn="just">
              <a:spcBef>
                <a:spcPts val="0"/>
              </a:spcBef>
              <a:buNone/>
            </a:pPr>
            <a:r>
              <a:rPr lang="en-US">
                <a:latin typeface="Times New Roman"/>
              </a:rPr>
              <a:t>4. Data Collection and Analysis </a:t>
            </a:r>
          </a:p>
          <a:p>
            <a:pPr marL="342900" indent="-190500" algn="just">
              <a:spcBef>
                <a:spcPts val="0"/>
              </a:spcBef>
              <a:buNone/>
            </a:pPr>
            <a:r>
              <a:rPr lang="en-US">
                <a:latin typeface="Times New Roman"/>
              </a:rPr>
              <a:t>5. Accessibility  </a:t>
            </a:r>
            <a:endParaRPr lang="en-US">
              <a:latin typeface="Cambria" panose="02040503050406030204" pitchFamily="18" charset="0"/>
              <a:ea typeface="Cambria" panose="02040503050406030204" pitchFamily="18" charset="0"/>
            </a:endParaRPr>
          </a:p>
          <a:p>
            <a:pPr marL="342900" indent="-190500" algn="just">
              <a:spcBef>
                <a:spcPts val="0"/>
              </a:spcBef>
              <a:buNone/>
            </a:pPr>
            <a:r>
              <a:rPr lang="en-US">
                <a:latin typeface="Times New Roman"/>
              </a:rPr>
              <a:t>6. Reduced Human Error </a:t>
            </a:r>
          </a:p>
          <a:p>
            <a:pPr marL="342900" indent="-190500" algn="just">
              <a:spcBef>
                <a:spcPts val="0"/>
              </a:spcBef>
              <a:buNone/>
            </a:pPr>
            <a:r>
              <a:rPr lang="en-US">
                <a:latin typeface="Times New Roman"/>
              </a:rPr>
              <a:t>7. Multilingual Support </a:t>
            </a:r>
          </a:p>
          <a:p>
            <a:pPr marL="342900" lvl="0" indent="-190500" algn="just">
              <a:spcBef>
                <a:spcPts val="0"/>
              </a:spcBef>
              <a:buNone/>
            </a:pPr>
            <a:r>
              <a:rPr lang="en-US">
                <a:latin typeface="Times New Roman"/>
              </a:rPr>
              <a:t>8. Enhanced Marketing and Promotion </a:t>
            </a:r>
            <a:endParaRPr 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a:latin typeface="Cambria" panose="02040503050406030204" pitchFamily="18" charset="0"/>
                <a:ea typeface="Cambria" panose="02040503050406030204" pitchFamily="18" charset="0"/>
              </a:rPr>
              <a:t>Content</a:t>
            </a:r>
            <a:endParaRPr>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583895" y="1006198"/>
            <a:ext cx="10668000" cy="5577694"/>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buFont typeface="Arial" panose="020B0604020202020204" pitchFamily="34" charset="0"/>
              <a:buChar char="•"/>
            </a:pPr>
            <a:r>
              <a:rPr lang="en-US" sz="1800">
                <a:latin typeface="Cambria"/>
                <a:ea typeface="Cambria"/>
              </a:rPr>
              <a:t>Abstract</a:t>
            </a:r>
            <a:endParaRPr lang="en-US" sz="1800"/>
          </a:p>
          <a:p>
            <a:pPr marL="495300" indent="-342900" algn="just">
              <a:lnSpc>
                <a:spcPct val="200000"/>
              </a:lnSpc>
              <a:spcBef>
                <a:spcPts val="0"/>
              </a:spcBef>
              <a:buFont typeface="Arial" panose="020B0604020202020204" pitchFamily="34" charset="0"/>
              <a:buChar char="•"/>
            </a:pPr>
            <a:r>
              <a:rPr lang="en-US" sz="1800">
                <a:latin typeface="Cambria"/>
                <a:ea typeface="Cambria"/>
              </a:rPr>
              <a:t>Literature Survey</a:t>
            </a:r>
            <a:endParaRPr lang="en-US" sz="180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sz="1800">
                <a:latin typeface="Cambria"/>
                <a:ea typeface="Cambria"/>
              </a:rPr>
              <a:t>Objectives</a:t>
            </a:r>
            <a:endParaRPr lang="en-US" sz="1800"/>
          </a:p>
          <a:p>
            <a:pPr marL="495300" indent="-342900" algn="just">
              <a:lnSpc>
                <a:spcPct val="200000"/>
              </a:lnSpc>
              <a:spcBef>
                <a:spcPts val="0"/>
              </a:spcBef>
              <a:buFont typeface="Arial" panose="020B0604020202020204" pitchFamily="34" charset="0"/>
              <a:buChar char="•"/>
            </a:pPr>
            <a:r>
              <a:rPr lang="en-US" sz="1800">
                <a:latin typeface="Cambria"/>
                <a:ea typeface="Cambria"/>
              </a:rPr>
              <a:t>Existing methods and drawbacks</a:t>
            </a:r>
          </a:p>
          <a:p>
            <a:pPr marL="495300" indent="-342900" algn="just">
              <a:lnSpc>
                <a:spcPct val="200000"/>
              </a:lnSpc>
              <a:spcBef>
                <a:spcPts val="0"/>
              </a:spcBef>
              <a:buFont typeface="Arial" panose="020B0604020202020204" pitchFamily="34" charset="0"/>
              <a:buChar char="•"/>
            </a:pPr>
            <a:r>
              <a:rPr lang="en-US" sz="1800">
                <a:latin typeface="Cambria"/>
                <a:ea typeface="Cambria"/>
              </a:rPr>
              <a:t>Proposed method and Feasibility study</a:t>
            </a:r>
            <a:endParaRPr lang="en-US" sz="180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sz="1800">
                <a:latin typeface="Cambria"/>
                <a:ea typeface="Cambria"/>
              </a:rPr>
              <a:t>Architecture Diagram</a:t>
            </a:r>
            <a:endParaRPr lang="en-US" sz="1800"/>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1800">
                <a:latin typeface="Cambria"/>
                <a:ea typeface="Cambria"/>
              </a:rPr>
              <a:t>Modules</a:t>
            </a:r>
            <a:endParaRPr lang="en-US" sz="180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sz="1800">
                <a:latin typeface="Cambria"/>
                <a:ea typeface="Cambria"/>
              </a:rPr>
              <a:t>Hardware and Software Details</a:t>
            </a:r>
            <a:endParaRPr lang="en-US" sz="180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sz="1800">
                <a:latin typeface="Cambria"/>
                <a:ea typeface="Cambria"/>
              </a:rPr>
              <a:t>Timeline(Gantt Chart)</a:t>
            </a:r>
            <a:endParaRPr lang="en-US" sz="180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sz="1800">
                <a:latin typeface="Cambria"/>
                <a:ea typeface="Cambria"/>
              </a:rPr>
              <a:t>References</a:t>
            </a:r>
            <a:endParaRPr lang="en-US" sz="1800">
              <a:latin typeface="Cambria" panose="02040503050406030204" pitchFamily="18" charset="0"/>
              <a:ea typeface="Cambria" panose="02040503050406030204" pitchFamily="18" charset="0"/>
            </a:endParaRPr>
          </a:p>
          <a:p>
            <a:pPr marL="495300" lvl="0" indent="-342900" algn="just">
              <a:lnSpc>
                <a:spcPct val="200000"/>
              </a:lnSpc>
              <a:spcBef>
                <a:spcPts val="0"/>
              </a:spcBef>
              <a:spcAft>
                <a:spcPts val="0"/>
              </a:spcAft>
              <a:buClr>
                <a:schemeClr val="dk1"/>
              </a:buClr>
              <a:buSzPts val="2400"/>
              <a:buFont typeface="Wingdings" panose="05000000000000000000" pitchFamily="2" charset="2"/>
              <a:buChar char="Ø"/>
            </a:pPr>
            <a:endParaRPr lang="en-US" sz="180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endParaRPr lang="en-US" sz="180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endParaRPr lang="en-US" sz="180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rPr lang="en-GB">
                <a:latin typeface="Cambria"/>
                <a:ea typeface="Cambria"/>
              </a:rPr>
              <a:t>Abstract</a:t>
            </a:r>
            <a:endParaRPr lang="en-US" sz="1800" b="0">
              <a:solidFill>
                <a:srgbClr val="000000"/>
              </a:solidFill>
              <a:latin typeface="Cambria"/>
              <a:ea typeface="Cambria"/>
            </a:endParaRPr>
          </a:p>
        </p:txBody>
      </p:sp>
      <p:sp>
        <p:nvSpPr>
          <p:cNvPr id="97" name="Google Shape;97;p14"/>
          <p:cNvSpPr txBox="1">
            <a:spLocks noGrp="1"/>
          </p:cNvSpPr>
          <p:nvPr>
            <p:ph type="body" idx="1"/>
          </p:nvPr>
        </p:nvSpPr>
        <p:spPr>
          <a:xfrm>
            <a:off x="655782" y="1163715"/>
            <a:ext cx="10668000" cy="4226857"/>
          </a:xfrm>
          <a:prstGeom prst="rect">
            <a:avLst/>
          </a:prstGeom>
          <a:noFill/>
          <a:ln>
            <a:noFill/>
          </a:ln>
        </p:spPr>
        <p:txBody>
          <a:bodyPr spcFirstLastPara="1" wrap="square" lIns="91425" tIns="45700" rIns="91425" bIns="45700" anchor="t" anchorCtr="0">
            <a:noAutofit/>
          </a:bodyPr>
          <a:lstStyle/>
          <a:p>
            <a:pPr algn="just">
              <a:buFont typeface="Arial" panose="020B0604020202020204" pitchFamily="34" charset="0"/>
              <a:buChar char="•"/>
            </a:pPr>
            <a:r>
              <a:rPr lang="en-US" sz="1600"/>
              <a:t>The Online Chatbot-Based Ticketing System is designed to automate and simplify customer support and service request handling. Traditional ticketing systems often require manual intervention, leading to delayed responses, customer dissatisfaction, and high operational costs. Customers frequently struggle with long wait times or complex navigation before their issues are addressed.</a:t>
            </a:r>
            <a:endParaRPr lang="en-US" sz="1600">
              <a:latin typeface="Cambria" panose="02040503050406030204" pitchFamily="18" charset="0"/>
              <a:ea typeface="Cambria" panose="02040503050406030204" pitchFamily="18" charset="0"/>
            </a:endParaRPr>
          </a:p>
          <a:p>
            <a:pPr algn="just">
              <a:buFont typeface="Arial" panose="020B0604020202020204" pitchFamily="34" charset="0"/>
              <a:buChar char="•"/>
            </a:pPr>
            <a:r>
              <a:rPr lang="en-US" sz="1600"/>
              <a:t>This project addresses these challenges by integrating an AI-powered chatbot into the ticketing process. The chatbot acts as the first point of contact, instantly interacting with users to collect queries, categorize issues, and generate support tickets in real time. By automating initial interactions, the system reduces workload on support staff, improves response times, and ensures that tickets are properly classified and routed to the right department.</a:t>
            </a:r>
          </a:p>
          <a:p>
            <a:pPr algn="just">
              <a:buFont typeface="Arial" panose="020B0604020202020204" pitchFamily="34" charset="0"/>
              <a:buChar char="•"/>
            </a:pPr>
            <a:r>
              <a:rPr lang="en-US" sz="1600"/>
              <a:t>The key objectives of this project are to enhance customer experience through instant query resolution, streamline ticket management, and minimize human effort in repetitive tasks. The approach combines natural language processing (NLP) for understanding user inputs, an intelligent backend for ticket tracking, and a user-friendly interface for monitoring ticket status.</a:t>
            </a:r>
          </a:p>
          <a:p>
            <a:pPr algn="just">
              <a:buFont typeface="Arial" panose="020B0604020202020204" pitchFamily="34" charset="0"/>
              <a:buChar char="•"/>
            </a:pPr>
            <a:r>
              <a:rPr lang="en-US" sz="1600"/>
              <a:t>Overall, the chatbot-based ticketing system provides a faster, smarter, and more efficient way to handle customer issues, ensuring scalability, improved service quality, and higher customer satisfaction.</a:t>
            </a:r>
          </a:p>
          <a:p>
            <a:pPr marL="495300" indent="-342900" algn="just">
              <a:lnSpc>
                <a:spcPct val="200000"/>
              </a:lnSpc>
              <a:spcBef>
                <a:spcPts val="0"/>
              </a:spcBef>
              <a:buFont typeface="Arial" panose="020B0604020202020204" pitchFamily="34" charset="0"/>
              <a:buChar char="•"/>
            </a:pPr>
            <a:endParaRPr 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r>
              <a:rPr lang="en-US">
                <a:latin typeface="Cambria"/>
                <a:ea typeface="Cambria"/>
              </a:rPr>
              <a:t>Literature Survey</a:t>
            </a:r>
            <a:endParaRPr lang="en-US">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577477" y="1255059"/>
            <a:ext cx="11172264" cy="5322793"/>
          </a:xfrm>
          <a:prstGeom prst="rect">
            <a:avLst/>
          </a:prstGeom>
          <a:noFill/>
          <a:ln>
            <a:noFill/>
          </a:ln>
        </p:spPr>
        <p:txBody>
          <a:bodyPr spcFirstLastPara="1" wrap="square" lIns="91425" tIns="45700" rIns="91425" bIns="45700" anchor="t" anchorCtr="0">
            <a:noAutofit/>
          </a:bodyPr>
          <a:lstStyle/>
          <a:p>
            <a:pPr marL="285750" indent="-285750" algn="just"/>
            <a:r>
              <a:rPr lang="en-US" sz="1600"/>
              <a:t>Zangari, A., </a:t>
            </a:r>
            <a:r>
              <a:rPr lang="en-US" sz="1600" i="1"/>
              <a:t>Ticket automation: an insight into current research</a:t>
            </a:r>
            <a:r>
              <a:rPr lang="en-US" sz="1600"/>
              <a:t>, </a:t>
            </a:r>
            <a:r>
              <a:rPr lang="en-US" sz="1600" b="1"/>
              <a:t>Expert Systems with Applications</a:t>
            </a:r>
            <a:r>
              <a:rPr lang="en-US" sz="1600"/>
              <a:t>, 2023. </a:t>
            </a:r>
          </a:p>
          <a:p>
            <a:pPr marL="285750" indent="-285750" algn="just"/>
            <a:r>
              <a:rPr lang="en-US" sz="1600" err="1"/>
              <a:t>Bonechi</a:t>
            </a:r>
            <a:r>
              <a:rPr lang="en-US" sz="1600"/>
              <a:t>, S., </a:t>
            </a:r>
            <a:r>
              <a:rPr lang="en-US" sz="1600" i="1"/>
              <a:t>Leveraging AI for Efficient Ticket Classification</a:t>
            </a:r>
            <a:r>
              <a:rPr lang="en-US" sz="1600"/>
              <a:t>, </a:t>
            </a:r>
            <a:r>
              <a:rPr lang="en-US" sz="1600" b="1"/>
              <a:t>Procedia Computer Science</a:t>
            </a:r>
            <a:r>
              <a:rPr lang="en-US" sz="1600"/>
              <a:t>, 2024. </a:t>
            </a:r>
          </a:p>
          <a:p>
            <a:pPr marL="285750" indent="-285750" algn="just"/>
            <a:r>
              <a:rPr lang="en-US" sz="1600" err="1"/>
              <a:t>Gandla</a:t>
            </a:r>
            <a:r>
              <a:rPr lang="en-US" sz="1600"/>
              <a:t>, P.K.K., et al., </a:t>
            </a:r>
            <a:r>
              <a:rPr lang="en-US" sz="1600" i="1"/>
              <a:t>Ticket Classification Using Machine Learning</a:t>
            </a:r>
            <a:r>
              <a:rPr lang="en-US" sz="1600"/>
              <a:t>, </a:t>
            </a:r>
            <a:r>
              <a:rPr lang="en-US" sz="1600" b="1"/>
              <a:t>Springer Proceedings</a:t>
            </a:r>
            <a:r>
              <a:rPr lang="en-US" sz="1600"/>
              <a:t>, 2024.</a:t>
            </a:r>
          </a:p>
          <a:p>
            <a:pPr marL="285750" indent="-285750" algn="just"/>
            <a:r>
              <a:rPr lang="en-US" sz="1600" err="1"/>
              <a:t>Marcuzzo</a:t>
            </a:r>
            <a:r>
              <a:rPr lang="en-US" sz="1600"/>
              <a:t>, M., et al., </a:t>
            </a:r>
            <a:r>
              <a:rPr lang="en-US" sz="1600" i="1"/>
              <a:t>A multi-level approach for hierarchical Ticket Classification</a:t>
            </a:r>
            <a:r>
              <a:rPr lang="en-US" sz="1600"/>
              <a:t>, </a:t>
            </a:r>
            <a:r>
              <a:rPr lang="en-US" sz="1600" b="1"/>
              <a:t>ACL W-NUT</a:t>
            </a:r>
            <a:r>
              <a:rPr lang="en-US" sz="1600"/>
              <a:t>, 2022.</a:t>
            </a:r>
          </a:p>
          <a:p>
            <a:pPr marL="285750" indent="-285750" algn="just"/>
            <a:r>
              <a:rPr lang="en-US" sz="1600"/>
              <a:t>Bird, J.J., et al., </a:t>
            </a:r>
            <a:r>
              <a:rPr lang="en-US" sz="1600" i="1"/>
              <a:t>Customer service chatbot enhancement with attention-based transfer learning</a:t>
            </a:r>
            <a:r>
              <a:rPr lang="en-US" sz="1600"/>
              <a:t>, </a:t>
            </a:r>
            <a:r>
              <a:rPr lang="en-US" sz="1600" b="1"/>
              <a:t>Knowledge-Based Systems</a:t>
            </a:r>
            <a:r>
              <a:rPr lang="en-US" sz="1600"/>
              <a:t>, 2024.</a:t>
            </a:r>
          </a:p>
          <a:p>
            <a:pPr marL="285750" indent="-285750" algn="just"/>
            <a:r>
              <a:rPr lang="en-US" sz="1600"/>
              <a:t>Liu, Z., et al., </a:t>
            </a:r>
            <a:r>
              <a:rPr lang="en-US" sz="1600" i="1"/>
              <a:t>Labeling Incident Management Tickets with Language Models (Ticket-BERT)</a:t>
            </a:r>
            <a:r>
              <a:rPr lang="en-US" sz="1600"/>
              <a:t>, 2022. </a:t>
            </a:r>
          </a:p>
          <a:p>
            <a:pPr marL="285750" indent="-285750" algn="just"/>
            <a:r>
              <a:rPr lang="en-US" sz="1600"/>
              <a:t>Ferreira, L., </a:t>
            </a:r>
            <a:r>
              <a:rPr lang="en-US" sz="1600" i="1"/>
              <a:t>SNOOKER: a dataset generator for helpdesk services</a:t>
            </a:r>
            <a:r>
              <a:rPr lang="en-US" sz="1600"/>
              <a:t>, </a:t>
            </a:r>
            <a:r>
              <a:rPr lang="en-US" sz="1600" b="1"/>
              <a:t>Journal of Intelligent Information Systems (Springer)</a:t>
            </a:r>
            <a:r>
              <a:rPr lang="en-US" sz="1600"/>
              <a:t>, 2024. </a:t>
            </a:r>
          </a:p>
          <a:p>
            <a:pPr marL="285750" indent="-285750" algn="just"/>
            <a:r>
              <a:rPr lang="en-US" sz="1600"/>
              <a:t>Zangari, A., </a:t>
            </a:r>
            <a:r>
              <a:rPr lang="en-US" sz="1600" i="1"/>
              <a:t>Combining deep ensemble learning and explanation for ticket classification</a:t>
            </a:r>
            <a:r>
              <a:rPr lang="en-US" sz="1600"/>
              <a:t>, </a:t>
            </a:r>
            <a:r>
              <a:rPr lang="en-US" sz="1600" b="1"/>
              <a:t>Expert Systems with Applications</a:t>
            </a:r>
            <a:r>
              <a:rPr lang="en-US" sz="1600"/>
              <a:t>, 2022. </a:t>
            </a:r>
          </a:p>
          <a:p>
            <a:pPr marL="285750" indent="-285750" algn="just"/>
            <a:r>
              <a:rPr lang="en-US" sz="1600"/>
              <a:t>Al-</a:t>
            </a:r>
            <a:r>
              <a:rPr lang="en-US" sz="1600" err="1"/>
              <a:t>Khawaldeh</a:t>
            </a:r>
            <a:r>
              <a:rPr lang="en-US" sz="1600"/>
              <a:t> (example domain), </a:t>
            </a:r>
            <a:r>
              <a:rPr lang="en-US" sz="1600" i="1"/>
              <a:t>Efficient intent classification &amp; NER for a multilingual service chatbot</a:t>
            </a:r>
            <a:r>
              <a:rPr lang="en-US" sz="1600"/>
              <a:t>, </a:t>
            </a:r>
            <a:r>
              <a:rPr lang="en-US" sz="1600" b="1"/>
              <a:t>Elsevier journal</a:t>
            </a:r>
            <a:r>
              <a:rPr lang="en-US" sz="1600"/>
              <a:t>, 2023. </a:t>
            </a:r>
          </a:p>
          <a:p>
            <a:pPr marL="285750" indent="-285750" algn="just"/>
            <a:r>
              <a:rPr lang="en-US" sz="1600"/>
              <a:t>Zhai, X., </a:t>
            </a:r>
            <a:r>
              <a:rPr lang="en-US" sz="1600" i="1"/>
              <a:t>Intent detection for task-oriented conversational agents: RNN vs. Transformers</a:t>
            </a:r>
            <a:r>
              <a:rPr lang="en-US" sz="1600"/>
              <a:t>, </a:t>
            </a:r>
            <a:r>
              <a:rPr lang="en-US" sz="1600" b="1"/>
              <a:t>Wiley – Expert Systems</a:t>
            </a:r>
            <a:r>
              <a:rPr lang="en-US" sz="1600"/>
              <a:t>, 2024.</a:t>
            </a:r>
          </a:p>
          <a:p>
            <a:pPr marL="342900" lvl="0" indent="-190500" algn="just">
              <a:spcBef>
                <a:spcPts val="0"/>
              </a:spcBef>
              <a:spcAft>
                <a:spcPts val="0"/>
              </a:spcAft>
              <a:buNone/>
            </a:pPr>
            <a:endParaRPr lang="en-US" sz="160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a:latin typeface="Cambria"/>
                <a:ea typeface="Cambria"/>
              </a:rPr>
              <a:t>Objectives</a:t>
            </a:r>
            <a:endParaRPr lang="en-US" sz="200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algn="just">
              <a:buNone/>
            </a:pPr>
            <a:r>
              <a:rPr lang="en-US" sz="1700"/>
              <a:t>The primary objectives of this project are:</a:t>
            </a:r>
          </a:p>
          <a:p>
            <a:pPr algn="just">
              <a:buNone/>
            </a:pPr>
            <a:r>
              <a:rPr lang="en-US" sz="1700">
                <a:latin typeface="Arial"/>
                <a:ea typeface="Cambria"/>
                <a:cs typeface="Arial"/>
              </a:rPr>
              <a:t>•</a:t>
            </a:r>
            <a:r>
              <a:rPr lang="en-US" sz="1700"/>
              <a:t>To design and develop an intelligent, conversational AI chatbot for booking tickets in a natural, user-friendly manner.</a:t>
            </a:r>
          </a:p>
          <a:p>
            <a:pPr algn="just">
              <a:buNone/>
            </a:pPr>
            <a:r>
              <a:rPr lang="en-US" sz="1700">
                <a:latin typeface="Arial"/>
                <a:ea typeface="Cambria"/>
                <a:cs typeface="Arial"/>
              </a:rPr>
              <a:t>•</a:t>
            </a:r>
            <a:r>
              <a:rPr lang="en-US" sz="1700"/>
              <a:t>To implement a secure and reliable payment gateway (e.g., Stripe, </a:t>
            </a:r>
            <a:r>
              <a:rPr lang="en-US" sz="1700" err="1"/>
              <a:t>Razorpay</a:t>
            </a:r>
            <a:r>
              <a:rPr lang="en-US" sz="1700"/>
              <a:t>) for seamless online transactions.</a:t>
            </a:r>
          </a:p>
          <a:p>
            <a:pPr algn="just">
              <a:buNone/>
            </a:pPr>
            <a:r>
              <a:rPr lang="en-US" sz="1700">
                <a:latin typeface="Arial"/>
                <a:ea typeface="Cambria"/>
                <a:cs typeface="Arial"/>
              </a:rPr>
              <a:t>•</a:t>
            </a:r>
            <a:r>
              <a:rPr lang="en-US" sz="1700"/>
              <a:t>To build a multilingual system that can cater to a diverse, international audience.</a:t>
            </a:r>
          </a:p>
          <a:p>
            <a:pPr algn="just">
              <a:buNone/>
            </a:pPr>
            <a:r>
              <a:rPr lang="en-US" sz="1700">
                <a:latin typeface="Arial"/>
                <a:ea typeface="Cambria"/>
                <a:cs typeface="Arial"/>
              </a:rPr>
              <a:t>•</a:t>
            </a:r>
            <a:r>
              <a:rPr lang="en-US" sz="1700"/>
              <a:t>To create a back-end admin dashboard for staff to monitor bookings, view analytics, and manage event listings.</a:t>
            </a:r>
          </a:p>
          <a:p>
            <a:pPr algn="just">
              <a:buNone/>
            </a:pPr>
            <a:r>
              <a:rPr lang="en-US" sz="1700">
                <a:latin typeface="Arial"/>
                <a:ea typeface="Cambria"/>
                <a:cs typeface="Arial"/>
              </a:rPr>
              <a:t>•</a:t>
            </a:r>
            <a:r>
              <a:rPr lang="en-US" sz="1700"/>
              <a:t>To enhance the visitor experience by reducing wait times, eliminating booking errors, and providing 24/7 support for inquiries.</a:t>
            </a:r>
          </a:p>
          <a:p>
            <a:pPr marL="342900" indent="-190500" algn="just">
              <a:lnSpc>
                <a:spcPct val="200000"/>
              </a:lnSpc>
              <a:spcBef>
                <a:spcPts val="0"/>
              </a:spcBef>
              <a:buNone/>
            </a:pPr>
            <a:endParaRPr lang="en-US" sz="170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r>
              <a:rPr lang="en-US">
                <a:latin typeface="Cambria"/>
                <a:ea typeface="Cambria"/>
              </a:rPr>
              <a:t>Existing Methods and Drawbacks</a:t>
            </a:r>
            <a:endParaRPr lang="en-US" sz="2000">
              <a:latin typeface="Cambria"/>
              <a:ea typeface="Cambria"/>
            </a:endParaRPr>
          </a:p>
        </p:txBody>
      </p:sp>
      <p:sp>
        <p:nvSpPr>
          <p:cNvPr id="115" name="Google Shape;115;p17"/>
          <p:cNvSpPr txBox="1">
            <a:spLocks noGrp="1"/>
          </p:cNvSpPr>
          <p:nvPr>
            <p:ph type="body" idx="1"/>
          </p:nvPr>
        </p:nvSpPr>
        <p:spPr>
          <a:xfrm>
            <a:off x="812800" y="975987"/>
            <a:ext cx="10814136" cy="5621053"/>
          </a:xfrm>
          <a:prstGeom prst="rect">
            <a:avLst/>
          </a:prstGeom>
          <a:noFill/>
          <a:ln>
            <a:noFill/>
          </a:ln>
        </p:spPr>
        <p:txBody>
          <a:bodyPr spcFirstLastPara="1" wrap="square" lIns="91425" tIns="45700" rIns="91425" bIns="45700" anchor="t" anchorCtr="0">
            <a:normAutofit fontScale="92500" lnSpcReduction="10000"/>
          </a:bodyPr>
          <a:lstStyle/>
          <a:p>
            <a:pPr marL="76200" indent="0" algn="just">
              <a:buNone/>
            </a:pPr>
            <a:r>
              <a:rPr lang="en-US">
                <a:solidFill>
                  <a:srgbClr val="1B1C1D"/>
                </a:solidFill>
              </a:rPr>
              <a:t>Existing Methods</a:t>
            </a:r>
            <a:endParaRPr lang="en-US">
              <a:solidFill>
                <a:srgbClr val="000000"/>
              </a:solidFill>
            </a:endParaRPr>
          </a:p>
          <a:p>
            <a:pPr marL="361950" indent="-285750" algn="just"/>
            <a:r>
              <a:rPr lang="en-US" sz="1800" b="1">
                <a:solidFill>
                  <a:srgbClr val="1B1C1D"/>
                </a:solidFill>
              </a:rPr>
              <a:t>On-site manual ticket counters</a:t>
            </a:r>
            <a:r>
              <a:rPr lang="en-US" sz="1800">
                <a:solidFill>
                  <a:srgbClr val="1B1C1D"/>
                </a:solidFill>
              </a:rPr>
              <a:t>.</a:t>
            </a:r>
            <a:endParaRPr lang="en-US">
              <a:solidFill>
                <a:srgbClr val="000000"/>
              </a:solidFill>
            </a:endParaRPr>
          </a:p>
          <a:p>
            <a:pPr marL="361950" indent="-285750" algn="just"/>
            <a:r>
              <a:rPr lang="en-US" sz="1800" b="1">
                <a:solidFill>
                  <a:srgbClr val="1B1C1D"/>
                </a:solidFill>
              </a:rPr>
              <a:t>Basic web-based forms</a:t>
            </a:r>
            <a:r>
              <a:rPr lang="en-US" sz="1800">
                <a:solidFill>
                  <a:srgbClr val="1B1C1D"/>
                </a:solidFill>
              </a:rPr>
              <a:t>.</a:t>
            </a:r>
            <a:endParaRPr lang="en-US" sz="1200" baseline="30000">
              <a:solidFill>
                <a:srgbClr val="575B5F"/>
              </a:solidFill>
            </a:endParaRPr>
          </a:p>
          <a:p>
            <a:pPr marL="361950" indent="-285750" algn="just"/>
            <a:r>
              <a:rPr lang="en-US" sz="1800" b="1">
                <a:solidFill>
                  <a:srgbClr val="1B1C1D"/>
                </a:solidFill>
              </a:rPr>
              <a:t>Generic e-commerce chatbots</a:t>
            </a:r>
            <a:r>
              <a:rPr lang="en-US" sz="1800">
                <a:solidFill>
                  <a:srgbClr val="1B1C1D"/>
                </a:solidFill>
              </a:rPr>
              <a:t> used for general customer support</a:t>
            </a:r>
            <a:endParaRPr lang="en-US">
              <a:solidFill>
                <a:srgbClr val="000000"/>
              </a:solidFill>
            </a:endParaRPr>
          </a:p>
          <a:p>
            <a:pPr marL="76200" indent="0" algn="just">
              <a:buNone/>
            </a:pPr>
            <a:endParaRPr lang="en-US"/>
          </a:p>
          <a:p>
            <a:pPr marL="76200" indent="0" algn="just">
              <a:buNone/>
            </a:pPr>
            <a:r>
              <a:rPr lang="en-US">
                <a:solidFill>
                  <a:srgbClr val="1B1C1D"/>
                </a:solidFill>
              </a:rPr>
              <a:t>Drawbacks of Existing Methods</a:t>
            </a:r>
            <a:endParaRPr lang="en-US">
              <a:solidFill>
                <a:srgbClr val="000000"/>
              </a:solidFill>
            </a:endParaRPr>
          </a:p>
          <a:p>
            <a:pPr marL="361950" indent="-285750" algn="just"/>
            <a:r>
              <a:rPr lang="en-US" sz="1800" b="1">
                <a:solidFill>
                  <a:srgbClr val="1B1C1D"/>
                </a:solidFill>
              </a:rPr>
              <a:t>Inefficiency and Time Consumption</a:t>
            </a:r>
            <a:r>
              <a:rPr lang="en-US" sz="1800">
                <a:solidFill>
                  <a:srgbClr val="1B1C1D"/>
                </a:solidFill>
              </a:rPr>
              <a:t>: </a:t>
            </a:r>
            <a:r>
              <a:rPr lang="en-US" sz="1700">
                <a:solidFill>
                  <a:srgbClr val="1B1C1D"/>
                </a:solidFill>
              </a:rPr>
              <a:t>Manual systems lead to long queues, particularly during peak times, creating a poor visitor experience.</a:t>
            </a:r>
            <a:endParaRPr lang="en-US" sz="1700">
              <a:solidFill>
                <a:srgbClr val="000000"/>
              </a:solidFill>
            </a:endParaRPr>
          </a:p>
          <a:p>
            <a:pPr marL="361950" indent="-285750" algn="just"/>
            <a:r>
              <a:rPr lang="en-US" sz="1800" b="1">
                <a:solidFill>
                  <a:srgbClr val="1B1C1D"/>
                </a:solidFill>
              </a:rPr>
              <a:t>Proneness to Errors</a:t>
            </a:r>
            <a:r>
              <a:rPr lang="en-US" sz="1800">
                <a:solidFill>
                  <a:srgbClr val="1B1C1D"/>
                </a:solidFill>
              </a:rPr>
              <a:t>: Manual processes are susceptible to mistakes like incorrect ticket issuance, double bookings, or lost records.</a:t>
            </a:r>
            <a:endParaRPr lang="en-US">
              <a:solidFill>
                <a:srgbClr val="000000"/>
              </a:solidFill>
            </a:endParaRPr>
          </a:p>
          <a:p>
            <a:pPr marL="361950" indent="-285750" algn="just"/>
            <a:r>
              <a:rPr lang="en-US" sz="1800" b="1">
                <a:solidFill>
                  <a:srgbClr val="1B1C1D"/>
                </a:solidFill>
              </a:rPr>
              <a:t>Lack of Accessibility</a:t>
            </a:r>
            <a:r>
              <a:rPr lang="en-US" sz="1800">
                <a:solidFill>
                  <a:srgbClr val="1B1C1D"/>
                </a:solidFill>
              </a:rPr>
              <a:t>: These systems often do not have multilingual support and are not easily accessible for users who need immediate information.</a:t>
            </a:r>
            <a:endParaRPr lang="en-US">
              <a:solidFill>
                <a:srgbClr val="000000"/>
              </a:solidFill>
            </a:endParaRPr>
          </a:p>
          <a:p>
            <a:pPr marL="361950" indent="-285750" algn="just"/>
            <a:r>
              <a:rPr lang="en-US" sz="1800" b="1">
                <a:solidFill>
                  <a:srgbClr val="1B1C1D"/>
                </a:solidFill>
              </a:rPr>
              <a:t>High Pre-Visit Friction</a:t>
            </a:r>
            <a:r>
              <a:rPr lang="en-US" sz="1800">
                <a:solidFill>
                  <a:srgbClr val="1B1C1D"/>
                </a:solidFill>
              </a:rPr>
              <a:t>: Traditional methods are not interactive, which contributes to visitor frustration before they even arrive.</a:t>
            </a:r>
            <a:endParaRPr lang="en-US">
              <a:solidFill>
                <a:srgbClr val="000000"/>
              </a:solidFill>
            </a:endParaRPr>
          </a:p>
          <a:p>
            <a:pPr marL="361950" indent="-285750" algn="just"/>
            <a:r>
              <a:rPr lang="en-US" sz="1800" b="1">
                <a:solidFill>
                  <a:srgbClr val="1B1C1D"/>
                </a:solidFill>
              </a:rPr>
              <a:t>Operational Overhead</a:t>
            </a:r>
            <a:r>
              <a:rPr lang="en-US" sz="1800">
                <a:solidFill>
                  <a:srgbClr val="1B1C1D"/>
                </a:solidFill>
              </a:rPr>
              <a:t>: Manual ticketing can negatively affect a museum's reputation and operational efficiency.</a:t>
            </a:r>
            <a:endParaRPr lang="en-US">
              <a:solidFill>
                <a:srgbClr val="000000"/>
              </a:solidFill>
            </a:endParaRPr>
          </a:p>
          <a:p>
            <a:pPr marL="361950" indent="-285750" algn="just"/>
            <a:r>
              <a:rPr lang="en-US" sz="1800" b="1">
                <a:solidFill>
                  <a:srgbClr val="1B1C1D"/>
                </a:solidFill>
              </a:rPr>
              <a:t>Generic Nature</a:t>
            </a:r>
            <a:r>
              <a:rPr lang="en-US" sz="1800">
                <a:solidFill>
                  <a:srgbClr val="1B1C1D"/>
                </a:solidFill>
              </a:rPr>
              <a:t>: Standard e-commerce chatbots are not specifically designed for the unique needs of museum ticketing, which involves specific dates, time slots, and various ticket types.</a:t>
            </a:r>
            <a:endParaRPr lang="en-US"/>
          </a:p>
          <a:p>
            <a:pPr marL="438150" indent="-285750" algn="just">
              <a:lnSpc>
                <a:spcPct val="200000"/>
              </a:lnSpc>
              <a:spcBef>
                <a:spcPts val="0"/>
              </a:spcBef>
            </a:pPr>
            <a:endParaRPr lang="en-US" sz="180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C813C-E045-21B1-6232-9EF6C85A82CE}"/>
              </a:ext>
            </a:extLst>
          </p:cNvPr>
          <p:cNvSpPr>
            <a:spLocks noGrp="1"/>
          </p:cNvSpPr>
          <p:nvPr>
            <p:ph type="title"/>
          </p:nvPr>
        </p:nvSpPr>
        <p:spPr>
          <a:xfrm>
            <a:off x="812800" y="145243"/>
            <a:ext cx="10668000" cy="990706"/>
          </a:xfrm>
        </p:spPr>
        <p:txBody>
          <a:bodyPr/>
          <a:lstStyle/>
          <a:p>
            <a:r>
              <a:rPr lang="en-US">
                <a:latin typeface="Cambria"/>
                <a:ea typeface="Cambria"/>
              </a:rPr>
              <a:t>Proposed Methods and Feasibility Study</a:t>
            </a:r>
            <a:endParaRPr lang="en-US" b="0">
              <a:solidFill>
                <a:srgbClr val="000000"/>
              </a:solidFill>
              <a:latin typeface="Cambria"/>
              <a:ea typeface="Cambria"/>
            </a:endParaRPr>
          </a:p>
          <a:p>
            <a:endParaRPr lang="en-US"/>
          </a:p>
        </p:txBody>
      </p:sp>
      <p:sp>
        <p:nvSpPr>
          <p:cNvPr id="3" name="Text Placeholder 2">
            <a:extLst>
              <a:ext uri="{FF2B5EF4-FFF2-40B4-BE49-F238E27FC236}">
                <a16:creationId xmlns:a16="http://schemas.microsoft.com/office/drawing/2014/main" id="{01C5655E-89C6-4E0A-B4F8-D92BB760539D}"/>
              </a:ext>
            </a:extLst>
          </p:cNvPr>
          <p:cNvSpPr>
            <a:spLocks noGrp="1"/>
          </p:cNvSpPr>
          <p:nvPr>
            <p:ph type="body" idx="1"/>
          </p:nvPr>
        </p:nvSpPr>
        <p:spPr/>
        <p:txBody>
          <a:bodyPr>
            <a:normAutofit/>
          </a:bodyPr>
          <a:lstStyle/>
          <a:p>
            <a:pPr marL="76200" indent="0" algn="just">
              <a:buNone/>
            </a:pPr>
            <a:r>
              <a:rPr lang="en-US" sz="2200">
                <a:solidFill>
                  <a:srgbClr val="1B1C1D"/>
                </a:solidFill>
              </a:rPr>
              <a:t>Proposed Method: </a:t>
            </a:r>
            <a:endParaRPr lang="en-US" sz="2200">
              <a:solidFill>
                <a:srgbClr val="000000"/>
              </a:solidFill>
            </a:endParaRPr>
          </a:p>
          <a:p>
            <a:pPr marL="76200" indent="0" algn="just">
              <a:buNone/>
            </a:pPr>
            <a:r>
              <a:rPr lang="en-US" sz="1700">
                <a:solidFill>
                  <a:srgbClr val="1B1C1D"/>
                </a:solidFill>
              </a:rPr>
              <a:t>The project proposes the development and implementation of a specialized, intelligent, conversational AI chatbot for booking museum tickets.</a:t>
            </a:r>
            <a:endParaRPr lang="en-US" sz="1700">
              <a:solidFill>
                <a:srgbClr val="000000"/>
              </a:solidFill>
            </a:endParaRPr>
          </a:p>
          <a:p>
            <a:pPr algn="just"/>
            <a:r>
              <a:rPr lang="en-US" sz="1700">
                <a:solidFill>
                  <a:srgbClr val="1B1C1D"/>
                </a:solidFill>
              </a:rPr>
              <a:t> This system is designed to replace traditional manual and basic online booking methods with a more efficient, user-friendly, and accessible solution.</a:t>
            </a:r>
            <a:endParaRPr lang="en-US" sz="1700"/>
          </a:p>
          <a:p>
            <a:pPr algn="just"/>
            <a:r>
              <a:rPr lang="en-US" sz="1700">
                <a:solidFill>
                  <a:srgbClr val="1B1C1D"/>
                </a:solidFill>
              </a:rPr>
              <a:t>The core of the proposed system includes:</a:t>
            </a:r>
            <a:endParaRPr lang="en-US" sz="1700"/>
          </a:p>
          <a:p>
            <a:pPr algn="just"/>
            <a:r>
              <a:rPr lang="en-US" sz="1700" b="1">
                <a:solidFill>
                  <a:srgbClr val="1B1C1D"/>
                </a:solidFill>
              </a:rPr>
              <a:t>A conversational AI chatbot</a:t>
            </a:r>
            <a:r>
              <a:rPr lang="en-US" sz="1700">
                <a:solidFill>
                  <a:srgbClr val="1B1C1D"/>
                </a:solidFill>
              </a:rPr>
              <a:t> for natural, user-friendly ticket booking</a:t>
            </a:r>
            <a:r>
              <a:rPr lang="en-US" sz="1700" baseline="30000">
                <a:solidFill>
                  <a:srgbClr val="575B5F"/>
                </a:solidFill>
              </a:rPr>
              <a:t>3</a:t>
            </a:r>
            <a:r>
              <a:rPr lang="en-US" sz="1700">
                <a:solidFill>
                  <a:srgbClr val="1B1C1D"/>
                </a:solidFill>
              </a:rPr>
              <a:t>.</a:t>
            </a:r>
            <a:endParaRPr lang="en-US" sz="1700"/>
          </a:p>
          <a:p>
            <a:pPr algn="just"/>
            <a:r>
              <a:rPr lang="en-US" sz="1700" b="1">
                <a:solidFill>
                  <a:srgbClr val="1B1C1D"/>
                </a:solidFill>
              </a:rPr>
              <a:t>Secure payment gateway integration</a:t>
            </a:r>
            <a:r>
              <a:rPr lang="en-US" sz="1700">
                <a:solidFill>
                  <a:srgbClr val="1B1C1D"/>
                </a:solidFill>
              </a:rPr>
              <a:t> (e.g., Stripe, </a:t>
            </a:r>
            <a:r>
              <a:rPr lang="en-US" sz="1700" err="1">
                <a:solidFill>
                  <a:srgbClr val="1B1C1D"/>
                </a:solidFill>
              </a:rPr>
              <a:t>Razorpay</a:t>
            </a:r>
            <a:r>
              <a:rPr lang="en-US" sz="1700">
                <a:solidFill>
                  <a:srgbClr val="1B1C1D"/>
                </a:solidFill>
              </a:rPr>
              <a:t>) for seamless online transactions.</a:t>
            </a:r>
            <a:endParaRPr lang="en-US" sz="1700"/>
          </a:p>
          <a:p>
            <a:pPr algn="just"/>
            <a:r>
              <a:rPr lang="en-US" sz="1700" b="1">
                <a:solidFill>
                  <a:srgbClr val="1B1C1D"/>
                </a:solidFill>
              </a:rPr>
              <a:t>Multilingual support</a:t>
            </a:r>
            <a:r>
              <a:rPr lang="en-US" sz="1700">
                <a:solidFill>
                  <a:srgbClr val="1B1C1D"/>
                </a:solidFill>
              </a:rPr>
              <a:t> to cater to a diverse, international audience.</a:t>
            </a:r>
            <a:endParaRPr lang="en-US" sz="1700"/>
          </a:p>
          <a:p>
            <a:pPr algn="just"/>
            <a:r>
              <a:rPr lang="en-US" sz="1700" b="1">
                <a:solidFill>
                  <a:srgbClr val="1B1C1D"/>
                </a:solidFill>
              </a:rPr>
              <a:t>A back-end admin dashboard</a:t>
            </a:r>
            <a:r>
              <a:rPr lang="en-US" sz="1700">
                <a:solidFill>
                  <a:srgbClr val="1B1C1D"/>
                </a:solidFill>
              </a:rPr>
              <a:t> for staff to monitor bookings, view analytics, and manage event listings.</a:t>
            </a:r>
            <a:endParaRPr lang="en-US" sz="1700">
              <a:solidFill>
                <a:srgbClr val="000000"/>
              </a:solidFill>
            </a:endParaRPr>
          </a:p>
          <a:p>
            <a:pPr marL="76200" indent="0" algn="just">
              <a:buNone/>
            </a:pPr>
            <a:br>
              <a:rPr lang="en-US"/>
            </a:br>
            <a:endParaRPr lang="en-US" sz="1700"/>
          </a:p>
          <a:p>
            <a:pPr marL="76200" indent="0" algn="just">
              <a:buNone/>
            </a:pPr>
            <a:endParaRPr lang="en-US" sz="1700"/>
          </a:p>
        </p:txBody>
      </p:sp>
    </p:spTree>
    <p:extLst>
      <p:ext uri="{BB962C8B-B14F-4D97-AF65-F5344CB8AC3E}">
        <p14:creationId xmlns:p14="http://schemas.microsoft.com/office/powerpoint/2010/main" val="2625309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C1228-55BD-122F-9453-DD1E3A7FCCA7}"/>
              </a:ext>
            </a:extLst>
          </p:cNvPr>
          <p:cNvSpPr>
            <a:spLocks noGrp="1"/>
          </p:cNvSpPr>
          <p:nvPr>
            <p:ph type="title"/>
          </p:nvPr>
        </p:nvSpPr>
        <p:spPr>
          <a:xfrm>
            <a:off x="812800" y="243323"/>
            <a:ext cx="10668000" cy="873719"/>
          </a:xfrm>
        </p:spPr>
        <p:txBody>
          <a:bodyPr/>
          <a:lstStyle/>
          <a:p>
            <a:r>
              <a:rPr lang="en-US">
                <a:latin typeface="Cambria"/>
                <a:ea typeface="Cambria"/>
              </a:rPr>
              <a:t>Proposed Methods and Feasibility Study</a:t>
            </a:r>
            <a:r>
              <a:rPr lang="en-US" sz="2000">
                <a:latin typeface="Cambria"/>
                <a:ea typeface="Cambria"/>
              </a:rPr>
              <a:t>(contd...)</a:t>
            </a:r>
            <a:endParaRPr lang="en-US" b="0">
              <a:solidFill>
                <a:srgbClr val="000000"/>
              </a:solidFill>
              <a:latin typeface="Cambria"/>
              <a:ea typeface="Cambria"/>
            </a:endParaRPr>
          </a:p>
          <a:p>
            <a:endParaRPr lang="en-US"/>
          </a:p>
        </p:txBody>
      </p:sp>
      <p:sp>
        <p:nvSpPr>
          <p:cNvPr id="3" name="Text Placeholder 2">
            <a:extLst>
              <a:ext uri="{FF2B5EF4-FFF2-40B4-BE49-F238E27FC236}">
                <a16:creationId xmlns:a16="http://schemas.microsoft.com/office/drawing/2014/main" id="{E41C1F7D-174C-B605-909E-8455EB793781}"/>
              </a:ext>
            </a:extLst>
          </p:cNvPr>
          <p:cNvSpPr>
            <a:spLocks noGrp="1"/>
          </p:cNvSpPr>
          <p:nvPr>
            <p:ph type="body" idx="1"/>
          </p:nvPr>
        </p:nvSpPr>
        <p:spPr>
          <a:xfrm>
            <a:off x="823239" y="1122125"/>
            <a:ext cx="10657560" cy="4389328"/>
          </a:xfrm>
        </p:spPr>
        <p:txBody>
          <a:bodyPr>
            <a:normAutofit/>
          </a:bodyPr>
          <a:lstStyle/>
          <a:p>
            <a:pPr marL="76200" indent="0" algn="just">
              <a:buNone/>
            </a:pPr>
            <a:r>
              <a:rPr lang="en-US" sz="2200">
                <a:solidFill>
                  <a:srgbClr val="1B1C1D"/>
                </a:solidFill>
              </a:rPr>
              <a:t>Feasibility Study</a:t>
            </a:r>
            <a:endParaRPr lang="en-US" sz="2200"/>
          </a:p>
          <a:p>
            <a:pPr marL="76200" indent="0" algn="just">
              <a:buNone/>
            </a:pPr>
            <a:r>
              <a:rPr lang="en-US" sz="1700">
                <a:solidFill>
                  <a:srgbClr val="1B1C1D"/>
                </a:solidFill>
              </a:rPr>
              <a:t>The project outlines a modern and robust technology stack, which supports the feasibility of the proposed system:</a:t>
            </a:r>
            <a:endParaRPr lang="en-US" sz="1700">
              <a:solidFill>
                <a:srgbClr val="000000"/>
              </a:solidFill>
            </a:endParaRPr>
          </a:p>
          <a:p>
            <a:pPr marL="247650" indent="-171450" algn="just"/>
            <a:r>
              <a:rPr lang="en-US" sz="1700" b="1">
                <a:solidFill>
                  <a:srgbClr val="1B1C1D"/>
                </a:solidFill>
              </a:rPr>
              <a:t>Frontend:</a:t>
            </a:r>
            <a:r>
              <a:rPr lang="en-US" sz="1700">
                <a:solidFill>
                  <a:srgbClr val="1B1C1D"/>
                </a:solidFill>
              </a:rPr>
              <a:t> The use of </a:t>
            </a:r>
            <a:r>
              <a:rPr lang="en-US" sz="1700" b="1">
                <a:solidFill>
                  <a:srgbClr val="1B1C1D"/>
                </a:solidFill>
              </a:rPr>
              <a:t>Next.js</a:t>
            </a:r>
            <a:r>
              <a:rPr lang="en-US" sz="1700">
                <a:solidFill>
                  <a:srgbClr val="1B1C1D"/>
                </a:solidFill>
              </a:rPr>
              <a:t> and </a:t>
            </a:r>
            <a:r>
              <a:rPr lang="en-US" sz="1700" b="1">
                <a:solidFill>
                  <a:srgbClr val="1B1C1D"/>
                </a:solidFill>
              </a:rPr>
              <a:t>Tailwind CSS</a:t>
            </a:r>
            <a:r>
              <a:rPr lang="en-US" sz="1700">
                <a:solidFill>
                  <a:srgbClr val="1B1C1D"/>
                </a:solidFill>
              </a:rPr>
              <a:t> allows for the creation of a fast, responsive, and user-friendly chat interface.</a:t>
            </a:r>
            <a:endParaRPr lang="en-US" sz="1700">
              <a:solidFill>
                <a:srgbClr val="000000"/>
              </a:solidFill>
            </a:endParaRPr>
          </a:p>
          <a:p>
            <a:pPr marL="247650" indent="-171450" algn="just"/>
            <a:r>
              <a:rPr lang="en-US" sz="1700" b="1">
                <a:solidFill>
                  <a:srgbClr val="1B1C1D"/>
                </a:solidFill>
              </a:rPr>
              <a:t>Backend:</a:t>
            </a:r>
            <a:r>
              <a:rPr lang="en-US" sz="1700">
                <a:solidFill>
                  <a:srgbClr val="1B1C1D"/>
                </a:solidFill>
              </a:rPr>
              <a:t> </a:t>
            </a:r>
            <a:r>
              <a:rPr lang="en-US" sz="1700" b="1">
                <a:solidFill>
                  <a:srgbClr val="1B1C1D"/>
                </a:solidFill>
              </a:rPr>
              <a:t>Firebase</a:t>
            </a:r>
            <a:r>
              <a:rPr lang="en-US" sz="1700">
                <a:solidFill>
                  <a:srgbClr val="1B1C1D"/>
                </a:solidFill>
              </a:rPr>
              <a:t> provides a real-time database, authentication, and hosting, while </a:t>
            </a:r>
            <a:r>
              <a:rPr lang="en-US" sz="1700" b="1">
                <a:solidFill>
                  <a:srgbClr val="1B1C1D"/>
                </a:solidFill>
              </a:rPr>
              <a:t>Node.js</a:t>
            </a:r>
            <a:r>
              <a:rPr lang="en-US" sz="1700">
                <a:solidFill>
                  <a:srgbClr val="1B1C1D"/>
                </a:solidFill>
              </a:rPr>
              <a:t> offers a scalable server-side environment</a:t>
            </a:r>
            <a:endParaRPr lang="en-US" sz="1700">
              <a:solidFill>
                <a:srgbClr val="000000"/>
              </a:solidFill>
            </a:endParaRPr>
          </a:p>
          <a:p>
            <a:pPr marL="247650" indent="-171450" algn="just"/>
            <a:r>
              <a:rPr lang="en-US" sz="1700" b="1">
                <a:solidFill>
                  <a:srgbClr val="1B1C1D"/>
                </a:solidFill>
              </a:rPr>
              <a:t>Generative AI:</a:t>
            </a:r>
            <a:r>
              <a:rPr lang="en-US" sz="1700">
                <a:solidFill>
                  <a:srgbClr val="1B1C1D"/>
                </a:solidFill>
              </a:rPr>
              <a:t> The integration of </a:t>
            </a:r>
            <a:r>
              <a:rPr lang="en-US" sz="1700" b="1" err="1">
                <a:solidFill>
                  <a:srgbClr val="1B1C1D"/>
                </a:solidFill>
              </a:rPr>
              <a:t>Genkit</a:t>
            </a:r>
            <a:r>
              <a:rPr lang="en-US" sz="1700">
                <a:solidFill>
                  <a:srgbClr val="1B1C1D"/>
                </a:solidFill>
              </a:rPr>
              <a:t> will power the chatbot's conversational capabilities.</a:t>
            </a:r>
            <a:endParaRPr lang="en-US" sz="1700">
              <a:solidFill>
                <a:srgbClr val="000000"/>
              </a:solidFill>
            </a:endParaRPr>
          </a:p>
          <a:p>
            <a:pPr marL="247650" indent="-171450" algn="just"/>
            <a:r>
              <a:rPr lang="en-US" sz="1700" b="1">
                <a:solidFill>
                  <a:srgbClr val="1B1C1D"/>
                </a:solidFill>
              </a:rPr>
              <a:t>Deployment:</a:t>
            </a:r>
            <a:r>
              <a:rPr lang="en-US" sz="1700">
                <a:solidFill>
                  <a:srgbClr val="1B1C1D"/>
                </a:solidFill>
              </a:rPr>
              <a:t> </a:t>
            </a:r>
            <a:r>
              <a:rPr lang="en-US" sz="1700" b="1">
                <a:solidFill>
                  <a:srgbClr val="1B1C1D"/>
                </a:solidFill>
              </a:rPr>
              <a:t>Google Cloud</a:t>
            </a:r>
            <a:r>
              <a:rPr lang="en-US" sz="1700">
                <a:solidFill>
                  <a:srgbClr val="1B1C1D"/>
                </a:solidFill>
              </a:rPr>
              <a:t> will be used for hosting, ensuring scalability and reliable infrastructure management.</a:t>
            </a:r>
            <a:endParaRPr lang="en-US" sz="1700">
              <a:solidFill>
                <a:srgbClr val="000000"/>
              </a:solidFill>
            </a:endParaRPr>
          </a:p>
          <a:p>
            <a:pPr marL="247650" indent="-171450" algn="just"/>
            <a:r>
              <a:rPr lang="en-US" sz="1700">
                <a:solidFill>
                  <a:srgbClr val="1B1C1D"/>
                </a:solidFill>
              </a:rPr>
              <a:t>The specified hardware and software requirements, such as an Intel Core i3 processor, 8 GB of RAM, and standard development tools like Visual Studio Code and Git, are readily available and do not pose significant barriers.</a:t>
            </a:r>
            <a:endParaRPr lang="en-US" sz="1700">
              <a:solidFill>
                <a:srgbClr val="000000"/>
              </a:solidFill>
            </a:endParaRPr>
          </a:p>
          <a:p>
            <a:pPr lvl="1" algn="just">
              <a:buChar char="•"/>
            </a:pPr>
            <a:endParaRPr lang="en-US" sz="1700">
              <a:solidFill>
                <a:srgbClr val="1B1C1D"/>
              </a:solidFill>
            </a:endParaRPr>
          </a:p>
          <a:p>
            <a:pPr lvl="1" algn="just">
              <a:buChar char="•"/>
            </a:pPr>
            <a:endParaRPr lang="en-US" sz="1050">
              <a:solidFill>
                <a:srgbClr val="1B1C1D"/>
              </a:solidFill>
            </a:endParaRPr>
          </a:p>
        </p:txBody>
      </p:sp>
    </p:spTree>
    <p:extLst>
      <p:ext uri="{BB962C8B-B14F-4D97-AF65-F5344CB8AC3E}">
        <p14:creationId xmlns:p14="http://schemas.microsoft.com/office/powerpoint/2010/main" val="33023236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87812-9885-85BE-E2EC-B731A276C8E2}"/>
              </a:ext>
            </a:extLst>
          </p:cNvPr>
          <p:cNvSpPr>
            <a:spLocks noGrp="1"/>
          </p:cNvSpPr>
          <p:nvPr>
            <p:ph type="title"/>
          </p:nvPr>
        </p:nvSpPr>
        <p:spPr>
          <a:xfrm>
            <a:off x="812800" y="452090"/>
            <a:ext cx="10668000" cy="487500"/>
          </a:xfrm>
        </p:spPr>
        <p:txBody>
          <a:bodyPr/>
          <a:lstStyle/>
          <a:p>
            <a:r>
              <a:rPr lang="en-US">
                <a:latin typeface="Cambria"/>
                <a:ea typeface="Cambria"/>
              </a:rPr>
              <a:t>Proposed Methods and Feasibility Study</a:t>
            </a:r>
            <a:r>
              <a:rPr lang="en-US" sz="2000">
                <a:latin typeface="Cambria"/>
                <a:ea typeface="Cambria"/>
              </a:rPr>
              <a:t>(contd...)</a:t>
            </a:r>
            <a:endParaRPr lang="en-US" sz="2000" b="0">
              <a:solidFill>
                <a:srgbClr val="000000"/>
              </a:solidFill>
              <a:latin typeface="Cambria"/>
              <a:ea typeface="Cambria"/>
            </a:endParaRPr>
          </a:p>
          <a:p>
            <a:endParaRPr lang="en-US" b="0">
              <a:solidFill>
                <a:srgbClr val="000000"/>
              </a:solidFill>
            </a:endParaRPr>
          </a:p>
        </p:txBody>
      </p:sp>
      <p:sp>
        <p:nvSpPr>
          <p:cNvPr id="5" name="TextBox 4">
            <a:extLst>
              <a:ext uri="{FF2B5EF4-FFF2-40B4-BE49-F238E27FC236}">
                <a16:creationId xmlns:a16="http://schemas.microsoft.com/office/drawing/2014/main" id="{40FCB2E8-E54D-2B0C-5552-B0170E2F5D83}"/>
              </a:ext>
            </a:extLst>
          </p:cNvPr>
          <p:cNvSpPr txBox="1"/>
          <p:nvPr/>
        </p:nvSpPr>
        <p:spPr>
          <a:xfrm>
            <a:off x="810019" y="1039660"/>
            <a:ext cx="10446703" cy="52937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lgn="just"/>
            <a:r>
              <a:rPr lang="en-US" sz="2200" dirty="0">
                <a:solidFill>
                  <a:srgbClr val="1B1C1D"/>
                </a:solidFill>
                <a:latin typeface="Verdana"/>
              </a:rPr>
              <a:t>Addressing Existing Problems</a:t>
            </a:r>
            <a:r>
              <a:rPr lang="en-US" sz="2200" dirty="0">
                <a:latin typeface="Verdana"/>
              </a:rPr>
              <a:t>​</a:t>
            </a:r>
          </a:p>
          <a:p>
            <a:pPr lvl="1" algn="just"/>
            <a:r>
              <a:rPr lang="en-US" sz="1700" dirty="0">
                <a:solidFill>
                  <a:srgbClr val="1B1C1D"/>
                </a:solidFill>
                <a:latin typeface="Verdana"/>
              </a:rPr>
              <a:t>The proposed chatbot system directly addresses the key drawbacks of current methods:</a:t>
            </a:r>
            <a:r>
              <a:rPr lang="en-US" sz="1700" dirty="0">
                <a:latin typeface="Verdana"/>
              </a:rPr>
              <a:t>​</a:t>
            </a:r>
          </a:p>
          <a:p>
            <a:pPr marL="228600" lvl="2" indent="-228600" algn="just">
              <a:buFont typeface=""/>
              <a:buChar char="•"/>
            </a:pPr>
            <a:r>
              <a:rPr lang="en-US" sz="1700" dirty="0">
                <a:solidFill>
                  <a:srgbClr val="1B1C1D"/>
                </a:solidFill>
                <a:latin typeface="Verdana"/>
              </a:rPr>
              <a:t>It aims to </a:t>
            </a:r>
            <a:r>
              <a:rPr lang="en-US" sz="1700" b="1" dirty="0">
                <a:solidFill>
                  <a:srgbClr val="1B1C1D"/>
                </a:solidFill>
                <a:latin typeface="Verdana"/>
              </a:rPr>
              <a:t>eliminate long queues</a:t>
            </a:r>
            <a:r>
              <a:rPr lang="en-US" sz="1700" dirty="0">
                <a:solidFill>
                  <a:srgbClr val="1B1C1D"/>
                </a:solidFill>
                <a:latin typeface="Verdana"/>
              </a:rPr>
              <a:t> and reduce booking errors by providing a 24/7 automated booking platform.</a:t>
            </a:r>
            <a:r>
              <a:rPr lang="en-US" sz="1700" dirty="0">
                <a:latin typeface="Verdana"/>
              </a:rPr>
              <a:t>​</a:t>
            </a:r>
          </a:p>
          <a:p>
            <a:pPr marL="228600" lvl="2" indent="-228600" algn="just">
              <a:buFont typeface=""/>
              <a:buChar char="•"/>
            </a:pPr>
            <a:r>
              <a:rPr lang="en-US" sz="1700" dirty="0">
                <a:solidFill>
                  <a:srgbClr val="1B1C1D"/>
                </a:solidFill>
                <a:latin typeface="Verdana"/>
              </a:rPr>
              <a:t>The inclusion of </a:t>
            </a:r>
            <a:r>
              <a:rPr lang="en-US" sz="1700" b="1" dirty="0">
                <a:solidFill>
                  <a:srgbClr val="1B1C1D"/>
                </a:solidFill>
                <a:latin typeface="Verdana"/>
              </a:rPr>
              <a:t>multilingual support</a:t>
            </a:r>
            <a:r>
              <a:rPr lang="en-US" sz="1700" dirty="0">
                <a:solidFill>
                  <a:srgbClr val="1B1C1D"/>
                </a:solidFill>
                <a:latin typeface="Verdana"/>
              </a:rPr>
              <a:t> makes it accessible to a global audience, overcoming a major limitation of traditional systems.</a:t>
            </a:r>
            <a:r>
              <a:rPr lang="en-US" sz="1700" dirty="0">
                <a:latin typeface="Verdana"/>
              </a:rPr>
              <a:t>​</a:t>
            </a:r>
          </a:p>
          <a:p>
            <a:pPr marL="228600" lvl="2" indent="-228600" algn="just">
              <a:buFont typeface=""/>
              <a:buChar char="•"/>
            </a:pPr>
            <a:r>
              <a:rPr lang="en-US" sz="1700" dirty="0">
                <a:solidFill>
                  <a:srgbClr val="1B1C1D"/>
                </a:solidFill>
                <a:latin typeface="Verdana"/>
              </a:rPr>
              <a:t>The system is designed to handle </a:t>
            </a:r>
            <a:r>
              <a:rPr lang="en-US" sz="1700" b="1" dirty="0">
                <a:solidFill>
                  <a:srgbClr val="1B1C1D"/>
                </a:solidFill>
                <a:latin typeface="Verdana"/>
              </a:rPr>
              <a:t>high volumes of booking requests</a:t>
            </a:r>
            <a:r>
              <a:rPr lang="en-US" sz="1700" dirty="0">
                <a:solidFill>
                  <a:srgbClr val="1B1C1D"/>
                </a:solidFill>
                <a:latin typeface="Verdana"/>
              </a:rPr>
              <a:t> efficiently, which manual systems struggle with.</a:t>
            </a:r>
            <a:r>
              <a:rPr lang="en-US" sz="1700" dirty="0">
                <a:latin typeface="Verdana"/>
              </a:rPr>
              <a:t>​</a:t>
            </a:r>
          </a:p>
          <a:p>
            <a:pPr marL="228600" lvl="2" indent="-228600" algn="just">
              <a:buFont typeface=""/>
              <a:buChar char="•"/>
            </a:pPr>
            <a:endParaRPr lang="en-US" sz="2200" dirty="0">
              <a:latin typeface="Verdana"/>
            </a:endParaRPr>
          </a:p>
          <a:p>
            <a:pPr lvl="2" algn="just"/>
            <a:r>
              <a:rPr lang="en-US" sz="2200" dirty="0">
                <a:solidFill>
                  <a:srgbClr val="1B1C1D"/>
                </a:solidFill>
                <a:latin typeface="Verdana"/>
              </a:rPr>
              <a:t>Innovative Contributions</a:t>
            </a:r>
            <a:r>
              <a:rPr lang="en-US" sz="2200" dirty="0">
                <a:latin typeface="Verdana"/>
              </a:rPr>
              <a:t>​</a:t>
            </a:r>
          </a:p>
          <a:p>
            <a:pPr marL="228600" lvl="2" indent="-228600" algn="just">
              <a:buFont typeface=""/>
              <a:buChar char="•"/>
            </a:pPr>
            <a:r>
              <a:rPr lang="en-US" sz="1700" dirty="0">
                <a:solidFill>
                  <a:srgbClr val="1B1C1D"/>
                </a:solidFill>
                <a:latin typeface="Verdana"/>
              </a:rPr>
              <a:t>The project's feasibility is further strengthened by its innovative aspects:</a:t>
            </a:r>
            <a:r>
              <a:rPr lang="en-US" sz="1700" dirty="0">
                <a:latin typeface="Verdana"/>
              </a:rPr>
              <a:t>​</a:t>
            </a:r>
          </a:p>
          <a:p>
            <a:pPr marL="228600" lvl="3" indent="-228600" algn="just">
              <a:buFont typeface=""/>
              <a:buChar char="•"/>
            </a:pPr>
            <a:r>
              <a:rPr lang="en-US" sz="1700" b="1" dirty="0">
                <a:solidFill>
                  <a:srgbClr val="1B1C1D"/>
                </a:solidFill>
                <a:latin typeface="Verdana"/>
              </a:rPr>
              <a:t>Domain-Specific Intelligence:</a:t>
            </a:r>
            <a:r>
              <a:rPr lang="en-US" sz="1700" dirty="0">
                <a:solidFill>
                  <a:srgbClr val="1B1C1D"/>
                </a:solidFill>
                <a:latin typeface="Verdana"/>
              </a:rPr>
              <a:t> Unlike generic chatbots, this system will be specifically trained for the museum context, handling queries about exhibits and events.</a:t>
            </a:r>
            <a:r>
              <a:rPr lang="en-US" sz="1700" dirty="0">
                <a:latin typeface="Verdana"/>
              </a:rPr>
              <a:t>​</a:t>
            </a:r>
          </a:p>
          <a:p>
            <a:pPr marL="228600" lvl="3" indent="-228600" algn="just">
              <a:buFont typeface=""/>
              <a:buChar char="•"/>
            </a:pPr>
            <a:r>
              <a:rPr lang="en-US" sz="1700" b="1" dirty="0">
                <a:solidFill>
                  <a:srgbClr val="1B1C1D"/>
                </a:solidFill>
                <a:latin typeface="Verdana"/>
              </a:rPr>
              <a:t>Actionable Analytics:</a:t>
            </a:r>
            <a:r>
              <a:rPr lang="en-US" sz="1700" dirty="0">
                <a:solidFill>
                  <a:srgbClr val="1B1C1D"/>
                </a:solidFill>
                <a:latin typeface="Verdana"/>
              </a:rPr>
              <a:t> The admin dashboard will provide valuable data on visitor patterns, allowing the museum to optimize operations and make data-driven decisions.</a:t>
            </a:r>
            <a:r>
              <a:rPr lang="en-US" sz="1700" dirty="0">
                <a:latin typeface="Verdana"/>
              </a:rPr>
              <a:t>​</a:t>
            </a:r>
          </a:p>
          <a:p>
            <a:pPr marL="228600" lvl="3" indent="-228600" algn="just">
              <a:buFont typeface=""/>
              <a:buChar char="•"/>
            </a:pPr>
            <a:r>
              <a:rPr lang="en-US" sz="1700" dirty="0">
                <a:solidFill>
                  <a:srgbClr val="1B1C1D"/>
                </a:solidFill>
                <a:latin typeface="Verdana"/>
              </a:rPr>
              <a:t>Based on the clearly defined objectives, a well-chosen technology stack, and the direct solutions it provides for existing problems, the proposed chatbot-based ticketing system is a highly feasible project.</a:t>
            </a:r>
            <a:r>
              <a:rPr lang="en-US" sz="1700" dirty="0">
                <a:latin typeface="Verdana"/>
              </a:rPr>
              <a:t>​</a:t>
            </a:r>
          </a:p>
          <a:p>
            <a:pPr marL="495300" indent="-342900" algn="just">
              <a:buFont typeface=""/>
              <a:buChar char="•"/>
            </a:pPr>
            <a:endParaRPr lang="en-US" sz="1700" dirty="0">
              <a:latin typeface="Verdana"/>
            </a:endParaRPr>
          </a:p>
        </p:txBody>
      </p:sp>
    </p:spTree>
    <p:extLst>
      <p:ext uri="{BB962C8B-B14F-4D97-AF65-F5344CB8AC3E}">
        <p14:creationId xmlns:p14="http://schemas.microsoft.com/office/powerpoint/2010/main" val="3873420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94A36-2F29-7801-2E42-367BD07CC2F0}"/>
              </a:ext>
            </a:extLst>
          </p:cNvPr>
          <p:cNvSpPr>
            <a:spLocks noGrp="1"/>
          </p:cNvSpPr>
          <p:nvPr>
            <p:ph type="title"/>
          </p:nvPr>
        </p:nvSpPr>
        <p:spPr>
          <a:xfrm>
            <a:off x="812800" y="229816"/>
            <a:ext cx="10668000" cy="801264"/>
          </a:xfrm>
        </p:spPr>
        <p:txBody>
          <a:bodyPr/>
          <a:lstStyle/>
          <a:p>
            <a:r>
              <a:rPr lang="en-US">
                <a:latin typeface="Cambria"/>
                <a:ea typeface="Cambria"/>
              </a:rPr>
              <a:t>Architecture Diagram</a:t>
            </a:r>
            <a:endParaRPr lang="en-US" b="0">
              <a:solidFill>
                <a:srgbClr val="000000"/>
              </a:solidFill>
            </a:endParaRPr>
          </a:p>
          <a:p>
            <a:pPr marL="495300" indent="-342900" algn="just">
              <a:lnSpc>
                <a:spcPct val="200000"/>
              </a:lnSpc>
              <a:buFont typeface="Arial,Sans-Serif"/>
              <a:buChar char="•"/>
            </a:pPr>
            <a:endParaRPr lang="en-US" sz="1800" b="0">
              <a:solidFill>
                <a:srgbClr val="000000"/>
              </a:solidFill>
              <a:latin typeface="Cambria"/>
              <a:ea typeface="Cambria"/>
            </a:endParaRPr>
          </a:p>
        </p:txBody>
      </p:sp>
      <p:pic>
        <p:nvPicPr>
          <p:cNvPr id="7" name="Picture 6">
            <a:extLst>
              <a:ext uri="{FF2B5EF4-FFF2-40B4-BE49-F238E27FC236}">
                <a16:creationId xmlns:a16="http://schemas.microsoft.com/office/drawing/2014/main" id="{57C1F225-8CB2-807F-E2F4-E916D1E3872E}"/>
              </a:ext>
            </a:extLst>
          </p:cNvPr>
          <p:cNvPicPr>
            <a:picLocks noChangeAspect="1"/>
          </p:cNvPicPr>
          <p:nvPr/>
        </p:nvPicPr>
        <p:blipFill>
          <a:blip r:embed="rId2"/>
          <a:stretch>
            <a:fillRect/>
          </a:stretch>
        </p:blipFill>
        <p:spPr>
          <a:xfrm>
            <a:off x="2165964" y="967167"/>
            <a:ext cx="7961671" cy="4923665"/>
          </a:xfrm>
          <a:prstGeom prst="rect">
            <a:avLst/>
          </a:prstGeom>
        </p:spPr>
      </p:pic>
    </p:spTree>
    <p:extLst>
      <p:ext uri="{BB962C8B-B14F-4D97-AF65-F5344CB8AC3E}">
        <p14:creationId xmlns:p14="http://schemas.microsoft.com/office/powerpoint/2010/main" val="31833293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2D40F-E45D-5DAB-0F72-5046067E5C0F}"/>
            </a:ext>
          </a:extLst>
        </p:cNvPr>
        <p:cNvGrpSpPr/>
        <p:nvPr/>
      </p:nvGrpSpPr>
      <p:grpSpPr>
        <a:xfrm>
          <a:off x="0" y="0"/>
          <a:ext cx="0" cy="0"/>
          <a:chOff x="0" y="0"/>
          <a:chExt cx="0" cy="0"/>
        </a:xfrm>
      </p:grpSpPr>
      <p:pic>
        <p:nvPicPr>
          <p:cNvPr id="2050" name="Picture 2" descr="A diagram of a museum testing system&#10;&#10;AI-generated content may be incorrect.">
            <a:extLst>
              <a:ext uri="{FF2B5EF4-FFF2-40B4-BE49-F238E27FC236}">
                <a16:creationId xmlns:a16="http://schemas.microsoft.com/office/drawing/2014/main" id="{E01AAADC-34C4-2A0A-FE35-1EE09AEFE8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0"/>
            <a:ext cx="4876800" cy="609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43211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6422C-DB4B-6D3E-C10F-6729A286455C}"/>
              </a:ext>
            </a:extLst>
          </p:cNvPr>
          <p:cNvSpPr>
            <a:spLocks noGrp="1"/>
          </p:cNvSpPr>
          <p:nvPr>
            <p:ph type="title"/>
          </p:nvPr>
        </p:nvSpPr>
        <p:spPr/>
        <p:txBody>
          <a:bodyPr/>
          <a:lstStyle/>
          <a:p>
            <a:pPr rtl="0"/>
            <a:r>
              <a:rPr lang="en-US" sz="2800">
                <a:latin typeface="Cambria"/>
                <a:ea typeface="Arial"/>
                <a:cs typeface="Arial"/>
              </a:rPr>
              <a:t>​</a:t>
            </a:r>
            <a:r>
              <a:rPr lang="en-US">
                <a:latin typeface="Cambria"/>
                <a:ea typeface="Arial"/>
                <a:cs typeface="Arial"/>
              </a:rPr>
              <a:t>Modules</a:t>
            </a:r>
            <a:endParaRPr lang="en-US" sz="2800">
              <a:latin typeface="Cambria"/>
              <a:ea typeface="Arial"/>
              <a:cs typeface="Arial"/>
            </a:endParaRPr>
          </a:p>
        </p:txBody>
      </p:sp>
      <p:sp>
        <p:nvSpPr>
          <p:cNvPr id="4" name="Rectangle 1">
            <a:extLst>
              <a:ext uri="{FF2B5EF4-FFF2-40B4-BE49-F238E27FC236}">
                <a16:creationId xmlns:a16="http://schemas.microsoft.com/office/drawing/2014/main" id="{44C1DD48-3F9E-BA8E-FC1E-E9A0E8C6E82F}"/>
              </a:ext>
            </a:extLst>
          </p:cNvPr>
          <p:cNvSpPr>
            <a:spLocks noGrp="1" noChangeArrowheads="1"/>
          </p:cNvSpPr>
          <p:nvPr>
            <p:ph type="body" idx="1"/>
          </p:nvPr>
        </p:nvSpPr>
        <p:spPr bwMode="auto">
          <a:xfrm>
            <a:off x="812800" y="1169407"/>
            <a:ext cx="9668387" cy="4519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6200" indent="0">
              <a:buNone/>
            </a:pPr>
            <a:r>
              <a:rPr lang="en-IN" sz="2200" b="1" dirty="0"/>
              <a:t>1. User Interaction Module</a:t>
            </a:r>
            <a:endParaRPr lang="en-IN" sz="2200" dirty="0"/>
          </a:p>
          <a:p>
            <a:r>
              <a:rPr lang="en-IN" sz="1800" dirty="0"/>
              <a:t>Chatbot interface (Next.js + Tailwind)</a:t>
            </a:r>
          </a:p>
          <a:p>
            <a:r>
              <a:rPr lang="en-IN" sz="1800" dirty="0"/>
              <a:t>Multilingual support</a:t>
            </a:r>
          </a:p>
          <a:p>
            <a:r>
              <a:rPr lang="en-IN" sz="1800" dirty="0"/>
              <a:t>Real-time user interaction</a:t>
            </a:r>
            <a:br>
              <a:rPr lang="en-IN" sz="1800" dirty="0"/>
            </a:br>
            <a:endParaRPr lang="en-IN" sz="1800" dirty="0"/>
          </a:p>
          <a:p>
            <a:pPr marL="76200" indent="0">
              <a:buNone/>
            </a:pPr>
            <a:r>
              <a:rPr lang="en-IN" sz="2200" b="1" dirty="0"/>
              <a:t>2. Booking Module</a:t>
            </a:r>
            <a:endParaRPr lang="en-IN" sz="2200" dirty="0"/>
          </a:p>
          <a:p>
            <a:r>
              <a:rPr lang="en-IN" sz="1800" dirty="0"/>
              <a:t>Seat/slot validation</a:t>
            </a:r>
          </a:p>
          <a:p>
            <a:r>
              <a:rPr lang="en-IN" sz="1800" dirty="0"/>
              <a:t>Ticket booking confirmation</a:t>
            </a:r>
            <a:br>
              <a:rPr lang="en-IN" sz="1800" dirty="0"/>
            </a:br>
            <a:endParaRPr lang="en-IN" sz="1800" dirty="0"/>
          </a:p>
          <a:p>
            <a:pPr marL="76200" indent="0">
              <a:buNone/>
            </a:pPr>
            <a:r>
              <a:rPr lang="en-IN" sz="2200" b="1" dirty="0"/>
              <a:t>3. Payment Module</a:t>
            </a:r>
            <a:endParaRPr lang="en-IN" sz="2200" dirty="0"/>
          </a:p>
          <a:p>
            <a:r>
              <a:rPr lang="en-IN" sz="1800" dirty="0"/>
              <a:t>Secure online payments (Stripe/</a:t>
            </a:r>
            <a:r>
              <a:rPr lang="en-IN" sz="1800" dirty="0" err="1"/>
              <a:t>Razorpay</a:t>
            </a:r>
            <a:r>
              <a:rPr lang="en-IN" sz="1800" dirty="0"/>
              <a:t>)</a:t>
            </a:r>
          </a:p>
          <a:p>
            <a:r>
              <a:rPr lang="en-IN" sz="1800" dirty="0"/>
              <a:t>Payment receipts</a:t>
            </a:r>
            <a:br>
              <a:rPr lang="en-IN" sz="1800" dirty="0"/>
            </a:br>
            <a:endParaRPr lang="en-IN" sz="1800" dirty="0"/>
          </a:p>
        </p:txBody>
      </p:sp>
    </p:spTree>
    <p:extLst>
      <p:ext uri="{BB962C8B-B14F-4D97-AF65-F5344CB8AC3E}">
        <p14:creationId xmlns:p14="http://schemas.microsoft.com/office/powerpoint/2010/main" val="2959106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B6EC4-1027-AD91-9EA8-EA296C6161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183073-CEA9-0A52-5FA1-236111BE6CC9}"/>
              </a:ext>
            </a:extLst>
          </p:cNvPr>
          <p:cNvSpPr>
            <a:spLocks noGrp="1"/>
          </p:cNvSpPr>
          <p:nvPr>
            <p:ph type="title"/>
          </p:nvPr>
        </p:nvSpPr>
        <p:spPr/>
        <p:txBody>
          <a:bodyPr/>
          <a:lstStyle/>
          <a:p>
            <a:pPr rtl="0"/>
            <a:r>
              <a:rPr lang="en-US" sz="2800">
                <a:latin typeface="Cambria"/>
                <a:ea typeface="Arial"/>
                <a:cs typeface="Arial"/>
              </a:rPr>
              <a:t>​</a:t>
            </a:r>
            <a:r>
              <a:rPr lang="en-US">
                <a:latin typeface="Cambria"/>
                <a:ea typeface="Arial"/>
                <a:cs typeface="Arial"/>
              </a:rPr>
              <a:t>Modules</a:t>
            </a:r>
            <a:endParaRPr lang="en-US" sz="2800">
              <a:latin typeface="Cambria"/>
              <a:ea typeface="Arial"/>
              <a:cs typeface="Arial"/>
            </a:endParaRPr>
          </a:p>
        </p:txBody>
      </p:sp>
      <p:sp>
        <p:nvSpPr>
          <p:cNvPr id="4" name="Rectangle 1">
            <a:extLst>
              <a:ext uri="{FF2B5EF4-FFF2-40B4-BE49-F238E27FC236}">
                <a16:creationId xmlns:a16="http://schemas.microsoft.com/office/drawing/2014/main" id="{5F78BEE1-33F8-0998-514E-F9D30181C155}"/>
              </a:ext>
            </a:extLst>
          </p:cNvPr>
          <p:cNvSpPr>
            <a:spLocks noGrp="1" noChangeArrowheads="1"/>
          </p:cNvSpPr>
          <p:nvPr>
            <p:ph type="body" idx="1"/>
          </p:nvPr>
        </p:nvSpPr>
        <p:spPr bwMode="auto">
          <a:xfrm>
            <a:off x="812800" y="1080485"/>
            <a:ext cx="9668387" cy="43037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6200" indent="0">
              <a:buNone/>
            </a:pPr>
            <a:r>
              <a:rPr lang="en-IN" sz="2200" b="1" dirty="0"/>
              <a:t>4. Admin Module</a:t>
            </a:r>
            <a:endParaRPr lang="en-IN" sz="2200" dirty="0"/>
          </a:p>
          <a:p>
            <a:r>
              <a:rPr lang="en-IN" sz="1800" dirty="0"/>
              <a:t>Event &amp; exhibit management</a:t>
            </a:r>
          </a:p>
          <a:p>
            <a:r>
              <a:rPr lang="en-IN" sz="1800" dirty="0"/>
              <a:t>Booking analytics and monitoring</a:t>
            </a:r>
            <a:br>
              <a:rPr lang="en-IN" sz="1800" dirty="0"/>
            </a:br>
            <a:endParaRPr lang="en-IN" sz="1800" dirty="0"/>
          </a:p>
          <a:p>
            <a:pPr marL="76200" indent="0">
              <a:buNone/>
            </a:pPr>
            <a:r>
              <a:rPr lang="en-IN" sz="2200" b="1" dirty="0"/>
              <a:t>5. Database Module</a:t>
            </a:r>
            <a:endParaRPr lang="en-IN" sz="2200" dirty="0"/>
          </a:p>
          <a:p>
            <a:r>
              <a:rPr lang="en-IN" sz="1800" dirty="0"/>
              <a:t>Firebase authentication</a:t>
            </a:r>
          </a:p>
          <a:p>
            <a:r>
              <a:rPr lang="en-IN" sz="1800" dirty="0"/>
              <a:t>User &amp; booking data storage</a:t>
            </a:r>
            <a:br>
              <a:rPr lang="en-IN" sz="2200" dirty="0"/>
            </a:br>
            <a:endParaRPr lang="en-IN" sz="2200" dirty="0"/>
          </a:p>
          <a:p>
            <a:pPr marL="76200" indent="0">
              <a:buNone/>
            </a:pPr>
            <a:r>
              <a:rPr lang="en-IN" sz="2200" b="1" dirty="0"/>
              <a:t>6. AI Module</a:t>
            </a:r>
            <a:endParaRPr lang="en-IN" sz="2200" dirty="0"/>
          </a:p>
          <a:p>
            <a:r>
              <a:rPr lang="en-IN" sz="1800" dirty="0"/>
              <a:t>Natural Language Processing (NLP)</a:t>
            </a:r>
          </a:p>
          <a:p>
            <a:r>
              <a:rPr lang="en-IN" sz="1800" dirty="0"/>
              <a:t>Intent classification and response generation</a:t>
            </a:r>
          </a:p>
          <a:p>
            <a:pPr marL="76200" indent="0">
              <a:buNone/>
            </a:pPr>
            <a:endParaRPr lang="en-IN" sz="1800" dirty="0"/>
          </a:p>
        </p:txBody>
      </p:sp>
    </p:spTree>
    <p:extLst>
      <p:ext uri="{BB962C8B-B14F-4D97-AF65-F5344CB8AC3E}">
        <p14:creationId xmlns:p14="http://schemas.microsoft.com/office/powerpoint/2010/main" val="36729520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F97D2-CE17-C93A-AB38-914E85D47D30}"/>
              </a:ext>
            </a:extLst>
          </p:cNvPr>
          <p:cNvSpPr>
            <a:spLocks noGrp="1"/>
          </p:cNvSpPr>
          <p:nvPr>
            <p:ph type="title"/>
          </p:nvPr>
        </p:nvSpPr>
        <p:spPr/>
        <p:txBody>
          <a:bodyPr/>
          <a:lstStyle/>
          <a:p>
            <a:r>
              <a:rPr lang="en-US">
                <a:latin typeface="Cambria"/>
                <a:ea typeface="Cambria"/>
              </a:rPr>
              <a:t>Hardware and Software Details</a:t>
            </a:r>
            <a:endParaRPr lang="en-US"/>
          </a:p>
        </p:txBody>
      </p:sp>
      <p:sp>
        <p:nvSpPr>
          <p:cNvPr id="3" name="Text Placeholder 2">
            <a:extLst>
              <a:ext uri="{FF2B5EF4-FFF2-40B4-BE49-F238E27FC236}">
                <a16:creationId xmlns:a16="http://schemas.microsoft.com/office/drawing/2014/main" id="{421DA0A0-7BA4-9365-A154-F3F596C6ED9D}"/>
              </a:ext>
            </a:extLst>
          </p:cNvPr>
          <p:cNvSpPr>
            <a:spLocks noGrp="1"/>
          </p:cNvSpPr>
          <p:nvPr>
            <p:ph type="body" idx="1"/>
          </p:nvPr>
        </p:nvSpPr>
        <p:spPr/>
        <p:txBody>
          <a:bodyPr>
            <a:normAutofit/>
          </a:bodyPr>
          <a:lstStyle/>
          <a:p>
            <a:pPr marL="76200" indent="0">
              <a:buNone/>
            </a:pPr>
            <a:r>
              <a:rPr lang="en-IN" sz="2200" b="1" dirty="0"/>
              <a:t>Hardware</a:t>
            </a:r>
            <a:endParaRPr lang="en-IN" sz="2200" dirty="0"/>
          </a:p>
          <a:p>
            <a:r>
              <a:rPr lang="en-IN" sz="1800" dirty="0"/>
              <a:t>Processor: Intel i3 or higher</a:t>
            </a:r>
          </a:p>
          <a:p>
            <a:r>
              <a:rPr lang="en-IN" sz="1800" dirty="0"/>
              <a:t>RAM: 8GB minimum</a:t>
            </a:r>
          </a:p>
          <a:p>
            <a:r>
              <a:rPr lang="en-IN" sz="1800" dirty="0"/>
              <a:t>Storage: 256 GB SSD</a:t>
            </a:r>
          </a:p>
          <a:p>
            <a:r>
              <a:rPr lang="en-IN" sz="1800" dirty="0"/>
              <a:t>Internet connection</a:t>
            </a:r>
            <a:br>
              <a:rPr lang="en-IN" sz="1800" dirty="0"/>
            </a:br>
            <a:endParaRPr lang="en-IN" sz="1800" dirty="0"/>
          </a:p>
          <a:p>
            <a:pPr marL="76200" indent="0">
              <a:buNone/>
            </a:pPr>
            <a:r>
              <a:rPr lang="en-IN" sz="2200" b="1" dirty="0"/>
              <a:t>Software</a:t>
            </a:r>
            <a:endParaRPr lang="en-IN" sz="2200" dirty="0"/>
          </a:p>
          <a:p>
            <a:r>
              <a:rPr lang="en-IN" sz="1800" b="1" dirty="0"/>
              <a:t>Frontend:</a:t>
            </a:r>
            <a:r>
              <a:rPr lang="en-IN" sz="1800" dirty="0"/>
              <a:t> Next.js, Tailwind CSS</a:t>
            </a:r>
          </a:p>
          <a:p>
            <a:r>
              <a:rPr lang="en-IN" sz="1800" b="1" dirty="0"/>
              <a:t>Backend:</a:t>
            </a:r>
            <a:r>
              <a:rPr lang="en-IN" sz="1800" dirty="0"/>
              <a:t> Node.js, Express</a:t>
            </a:r>
          </a:p>
          <a:p>
            <a:r>
              <a:rPr lang="en-IN" sz="1800" b="1" dirty="0"/>
              <a:t>Database:</a:t>
            </a:r>
            <a:r>
              <a:rPr lang="en-IN" sz="1800" dirty="0"/>
              <a:t> Firebase</a:t>
            </a:r>
          </a:p>
          <a:p>
            <a:r>
              <a:rPr lang="en-IN" sz="1800" b="1" dirty="0"/>
              <a:t>AI Tools:</a:t>
            </a:r>
            <a:r>
              <a:rPr lang="en-IN" sz="1800" dirty="0"/>
              <a:t> </a:t>
            </a:r>
            <a:r>
              <a:rPr lang="en-IN" sz="1800" dirty="0" err="1"/>
              <a:t>Genkit</a:t>
            </a:r>
            <a:r>
              <a:rPr lang="en-IN" sz="1800" dirty="0"/>
              <a:t> (for chatbot), NLP models</a:t>
            </a:r>
          </a:p>
          <a:p>
            <a:r>
              <a:rPr lang="en-IN" sz="1800" b="1" dirty="0"/>
              <a:t>Deployment:</a:t>
            </a:r>
            <a:r>
              <a:rPr lang="en-IN" sz="1800" dirty="0"/>
              <a:t> Google Cloud</a:t>
            </a:r>
          </a:p>
          <a:p>
            <a:r>
              <a:rPr lang="en-IN" sz="1800" b="1" dirty="0"/>
              <a:t>Dev Tools:</a:t>
            </a:r>
            <a:r>
              <a:rPr lang="en-IN" sz="1800" dirty="0"/>
              <a:t> Git, VS Code, Postman</a:t>
            </a:r>
          </a:p>
          <a:p>
            <a:endParaRPr lang="en-US" dirty="0"/>
          </a:p>
        </p:txBody>
      </p:sp>
    </p:spTree>
    <p:extLst>
      <p:ext uri="{BB962C8B-B14F-4D97-AF65-F5344CB8AC3E}">
        <p14:creationId xmlns:p14="http://schemas.microsoft.com/office/powerpoint/2010/main" val="12165833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a:latin typeface="Cambria" panose="02040503050406030204" pitchFamily="18" charset="0"/>
                <a:ea typeface="Cambria" panose="02040503050406030204" pitchFamily="18" charset="0"/>
              </a:rPr>
              <a:t>Timeline of the Project (Gantt Chart)</a:t>
            </a:r>
            <a:endParaRPr>
              <a:latin typeface="Cambria" panose="02040503050406030204" pitchFamily="18" charset="0"/>
              <a:ea typeface="Cambria" panose="02040503050406030204" pitchFamily="18" charset="0"/>
            </a:endParaRPr>
          </a:p>
        </p:txBody>
      </p:sp>
      <p:sp>
        <p:nvSpPr>
          <p:cNvPr id="4" name="AutoShape 6" descr="Output image">
            <a:extLst>
              <a:ext uri="{FF2B5EF4-FFF2-40B4-BE49-F238E27FC236}">
                <a16:creationId xmlns:a16="http://schemas.microsoft.com/office/drawing/2014/main" id="{49FA3C8A-D014-8095-BF4B-BF004CDD283E}"/>
              </a:ext>
            </a:extLst>
          </p:cNvPr>
          <p:cNvSpPr>
            <a:spLocks noChangeAspect="1" noChangeArrowheads="1"/>
          </p:cNvSpPr>
          <p:nvPr/>
        </p:nvSpPr>
        <p:spPr bwMode="auto">
          <a:xfrm>
            <a:off x="5943599" y="3276599"/>
            <a:ext cx="6130413" cy="613041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0F71650C-1CC4-69B9-709A-BE621BFFB53E}"/>
              </a:ext>
            </a:extLst>
          </p:cNvPr>
          <p:cNvPicPr>
            <a:picLocks noChangeAspect="1"/>
          </p:cNvPicPr>
          <p:nvPr/>
        </p:nvPicPr>
        <p:blipFill>
          <a:blip r:embed="rId3"/>
          <a:stretch>
            <a:fillRect/>
          </a:stretch>
        </p:blipFill>
        <p:spPr>
          <a:xfrm>
            <a:off x="1201993" y="1165590"/>
            <a:ext cx="9788014" cy="4825185"/>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a:latin typeface="Cambria" panose="02040503050406030204" pitchFamily="18" charset="0"/>
                <a:ea typeface="Cambria" panose="02040503050406030204" pitchFamily="18" charset="0"/>
              </a:rPr>
              <a:t>References (IEEE Paper format)</a:t>
            </a:r>
            <a:endParaRPr>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a:latin typeface="Cambria" panose="02040503050406030204" pitchFamily="18" charset="0"/>
              <a:ea typeface="Cambria" panose="02040503050406030204" pitchFamily="18" charset="0"/>
            </a:endParaRPr>
          </a:p>
          <a:p>
            <a:pPr marL="609600" lvl="1" indent="0">
              <a:spcBef>
                <a:spcPts val="0"/>
              </a:spcBef>
              <a:buNone/>
            </a:pPr>
            <a:r>
              <a:rPr lang="en-US"/>
              <a:t>[1]. A. Kumar, B. R. Patel, and C. Zhang, “Plant disease identification using convolutional neural networks,” </a:t>
            </a:r>
            <a:r>
              <a:rPr lang="en-US" i="1"/>
              <a:t>IEEE Access</a:t>
            </a:r>
            <a:r>
              <a:rPr lang="en-US"/>
              <a:t>, vol. 9, pp. 34567–34578, Mar. 2021.</a:t>
            </a:r>
          </a:p>
          <a:p>
            <a:pPr marL="609600" lvl="1" indent="0">
              <a:spcBef>
                <a:spcPts val="0"/>
              </a:spcBef>
              <a:buNone/>
            </a:pPr>
            <a:endParaRPr lang="en-US">
              <a:latin typeface="Cambria" panose="02040503050406030204" pitchFamily="18" charset="0"/>
              <a:ea typeface="Cambria" panose="02040503050406030204" pitchFamily="18" charset="0"/>
            </a:endParaRPr>
          </a:p>
          <a:p>
            <a:pPr marL="609600" lvl="1" indent="0">
              <a:spcBef>
                <a:spcPts val="0"/>
              </a:spcBef>
              <a:buNone/>
            </a:pPr>
            <a:r>
              <a:rPr lang="en-US"/>
              <a:t>[2]. J. Smith, “Deep learning in agricultural systems,” </a:t>
            </a:r>
            <a:r>
              <a:rPr lang="en-US" i="1"/>
              <a:t>IEEE Transactions on Neural Networks and Learning Systems</a:t>
            </a:r>
            <a:r>
              <a:rPr lang="en-US"/>
              <a:t>, vol. 32, no. 7, pp. 1234–1245, Jul. 2021.</a:t>
            </a:r>
            <a:endParaRPr lang="en-US">
              <a:latin typeface="Cambria" panose="02040503050406030204" pitchFamily="18" charset="0"/>
              <a:ea typeface="Cambria" panose="02040503050406030204" pitchFamily="18" charset="0"/>
            </a:endParaRPr>
          </a:p>
          <a:p>
            <a:pPr marL="152400" indent="0">
              <a:spcBef>
                <a:spcPts val="0"/>
              </a:spcBef>
              <a:buNone/>
            </a:pPr>
            <a:endParaRPr lang="en-US">
              <a:latin typeface="Cambria" panose="02040503050406030204" pitchFamily="18" charset="0"/>
              <a:ea typeface="Cambria" panose="02040503050406030204" pitchFamily="18" charset="0"/>
            </a:endParaRPr>
          </a:p>
          <a:p>
            <a:pPr marL="152400" indent="0">
              <a:spcBef>
                <a:spcPts val="0"/>
              </a:spcBef>
              <a:buNone/>
            </a:pPr>
            <a:endParaRPr lang="en-US">
              <a:latin typeface="Cambria" panose="02040503050406030204" pitchFamily="18" charset="0"/>
              <a:ea typeface="Cambria" panose="02040503050406030204" pitchFamily="18" charset="0"/>
            </a:endParaRPr>
          </a:p>
          <a:p>
            <a:pPr marL="152400" indent="0">
              <a:spcBef>
                <a:spcPts val="0"/>
              </a:spcBef>
              <a:buNone/>
            </a:pPr>
            <a:endParaRPr>
              <a:latin typeface="Cambria" panose="02040503050406030204" pitchFamily="18" charset="0"/>
              <a:ea typeface="Cambria" panose="020405030504060302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1639</Words>
  <Application>Microsoft Office PowerPoint</Application>
  <PresentationFormat>Widescreen</PresentationFormat>
  <Paragraphs>156</Paragraphs>
  <Slides>18</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Arial,Sans-Serif</vt:lpstr>
      <vt:lpstr>Bookman Old Style</vt:lpstr>
      <vt:lpstr>Cambria</vt:lpstr>
      <vt:lpstr>Times New Roman</vt:lpstr>
      <vt:lpstr>Verdana</vt:lpstr>
      <vt:lpstr>Wingdings</vt:lpstr>
      <vt:lpstr>Bioinformatics</vt:lpstr>
      <vt:lpstr>Online Chatbot based ticketing system</vt:lpstr>
      <vt:lpstr>Problem Statement Number: </vt:lpstr>
      <vt:lpstr>Content</vt:lpstr>
      <vt:lpstr>Abstract</vt:lpstr>
      <vt:lpstr>Literature Survey</vt:lpstr>
      <vt:lpstr>Objectives</vt:lpstr>
      <vt:lpstr>Existing Methods and Drawbacks</vt:lpstr>
      <vt:lpstr>Proposed Methods and Feasibility Study </vt:lpstr>
      <vt:lpstr>Proposed Methods and Feasibility Study(contd...) </vt:lpstr>
      <vt:lpstr>Proposed Methods and Feasibility Study(contd...) </vt:lpstr>
      <vt:lpstr>Architecture Diagram </vt:lpstr>
      <vt:lpstr>PowerPoint Presentation</vt:lpstr>
      <vt:lpstr>​Modules</vt:lpstr>
      <vt:lpstr>​Modules</vt:lpstr>
      <vt:lpstr>Hardware and Software Details</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Spandana KG</cp:lastModifiedBy>
  <cp:revision>3</cp:revision>
  <dcterms:modified xsi:type="dcterms:W3CDTF">2025-09-06T08:20:59Z</dcterms:modified>
</cp:coreProperties>
</file>