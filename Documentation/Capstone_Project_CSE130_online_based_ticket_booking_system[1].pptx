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5" r:id="rId6"/>
    <p:sldId id="280" r:id="rId7"/>
    <p:sldId id="279" r:id="rId8"/>
    <p:sldId id="281" r:id="rId9"/>
    <p:sldId id="278"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a:solidFill>
                  <a:schemeClr val="tx1"/>
                </a:solidFill>
                <a:latin typeface="Times New Roman"/>
              </a:rPr>
              <a:t>Online Chatbot based ticketing system</a:t>
            </a:r>
            <a:endParaRPr lang="en-US">
              <a:solidFill>
                <a:schemeClr val="tx1"/>
              </a:solidFill>
              <a:latin typeface="Times New Roman"/>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a:t>
            </a:r>
            <a:r>
              <a:rPr lang="en-GB" sz="1800" b="0">
                <a:solidFill>
                  <a:schemeClr val="tx1"/>
                </a:solidFill>
                <a:latin typeface="Cambria"/>
              </a:rPr>
              <a:t>CSE_130</a:t>
            </a:r>
            <a:endParaRPr lang="en-US" sz="1800">
              <a:solidFill>
                <a:schemeClr val="tx1"/>
              </a:solidFill>
              <a:latin typeface="Cambria"/>
              <a:ea typeface="Cambria" panose="02040503050406030204" pitchFamily="18" charset="0"/>
            </a:endParaRPr>
          </a:p>
          <a:p>
            <a:pPr marL="0" lvl="0" indent="0" algn="l">
              <a:spcBef>
                <a:spcPts val="0"/>
              </a:spcBef>
              <a:spcAft>
                <a:spcPts val="0"/>
              </a:spcAft>
              <a:buSzPts val="2000"/>
              <a:buNone/>
            </a:pPr>
            <a:endParaRPr lang="en-GB" sz="1800">
              <a:latin typeface="Cambria" panose="02040503050406030204" pitchFamily="18" charset="0"/>
              <a:ea typeface="Cambria" panose="02040503050406030204" pitchFamily="18" charset="0"/>
            </a:endParaRPr>
          </a:p>
        </p:txBody>
      </p:sp>
      <p:sp>
        <p:nvSpPr>
          <p:cNvPr id="90" name="Google Shape;90;p13"/>
          <p:cNvSpPr txBox="1"/>
          <p:nvPr/>
        </p:nvSpPr>
        <p:spPr>
          <a:xfrm>
            <a:off x="7414723" y="2613981"/>
            <a:ext cx="4579772" cy="1934296"/>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err="1">
                <a:solidFill>
                  <a:srgbClr val="17365D"/>
                </a:solidFill>
                <a:latin typeface="Cambria"/>
                <a:ea typeface="Cambria"/>
                <a:sym typeface="Verdana"/>
              </a:rPr>
              <a:t>Mr.Afroj</a:t>
            </a:r>
            <a:r>
              <a:rPr lang="en-GB" sz="1700" b="1">
                <a:solidFill>
                  <a:srgbClr val="17365D"/>
                </a:solidFill>
                <a:latin typeface="Cambria"/>
                <a:ea typeface="Cambria"/>
                <a:sym typeface="Verdana"/>
              </a:rPr>
              <a:t> Alam</a:t>
            </a:r>
            <a:endParaRPr b="1">
              <a:latin typeface="Cambria"/>
              <a:ea typeface="Cambria" panose="02040503050406030204" pitchFamily="18" charset="0"/>
            </a:endParaRPr>
          </a:p>
          <a:p>
            <a:pPr>
              <a:spcBef>
                <a:spcPts val="340"/>
              </a:spcBef>
              <a:buClr>
                <a:srgbClr val="17365D"/>
              </a:buClr>
              <a:buSzPts val="1700"/>
            </a:pPr>
            <a:r>
              <a:rPr lang="en-GB" sz="1700" b="1" i="0" u="none" strike="noStrike" cap="none">
                <a:solidFill>
                  <a:srgbClr val="17365D"/>
                </a:solidFill>
                <a:latin typeface="Cambria"/>
                <a:ea typeface="Cambria"/>
                <a:cs typeface="Verdana"/>
                <a:sym typeface="Verdana"/>
              </a:rPr>
              <a:t>Assistant Professor</a:t>
            </a:r>
            <a:endParaRPr b="1">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a:ea typeface="Cambria"/>
                <a:cs typeface="Verdana"/>
                <a:sym typeface="Verdana"/>
              </a:rPr>
              <a:t>School of Computer Science and Engineering</a:t>
            </a:r>
            <a:endParaRPr b="1">
              <a:latin typeface="Cambria"/>
              <a:ea typeface="Cambria"/>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a:ea typeface="Cambria"/>
                <a:cs typeface="Verdana"/>
                <a:sym typeface="Verdana"/>
              </a:rPr>
              <a:t>Presidency University</a:t>
            </a:r>
            <a:endParaRPr b="1">
              <a:latin typeface="Cambria"/>
              <a:ea typeface="Cambria"/>
            </a:endParaRPr>
          </a:p>
          <a:p>
            <a:pPr marL="0" marR="0" lvl="0" indent="0" algn="l"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167198277"/>
              </p:ext>
            </p:extLst>
          </p:nvPr>
        </p:nvGraphicFramePr>
        <p:xfrm>
          <a:off x="553347" y="2721840"/>
          <a:ext cx="5362617" cy="3017580"/>
        </p:xfrm>
        <a:graphic>
          <a:graphicData uri="http://schemas.openxmlformats.org/drawingml/2006/table">
            <a:tbl>
              <a:tblPr firstRow="1" bandRow="1">
                <a:noFill/>
                <a:tableStyleId>{57690726-49DA-4552-BDEB-330DD8EA8BD9}</a:tableStyleId>
              </a:tblPr>
              <a:tblGrid>
                <a:gridCol w="2101102">
                  <a:extLst>
                    <a:ext uri="{9D8B030D-6E8A-4147-A177-3AD203B41FA5}">
                      <a16:colId xmlns:a16="http://schemas.microsoft.com/office/drawing/2014/main" val="20000"/>
                    </a:ext>
                  </a:extLst>
                </a:gridCol>
                <a:gridCol w="3261515">
                  <a:extLst>
                    <a:ext uri="{9D8B030D-6E8A-4147-A177-3AD203B41FA5}">
                      <a16:colId xmlns:a16="http://schemas.microsoft.com/office/drawing/2014/main" val="20001"/>
                    </a:ext>
                  </a:extLst>
                </a:gridCol>
              </a:tblGrid>
              <a:tr h="190245">
                <a:tc>
                  <a:txBody>
                    <a:bodyPr/>
                    <a:lstStyle/>
                    <a:p>
                      <a:pPr marL="0" marR="0" lvl="1" indent="0" algn="ctr" rtl="0">
                        <a:spcBef>
                          <a:spcPts val="0"/>
                        </a:spcBef>
                        <a:spcAft>
                          <a:spcPts val="0"/>
                        </a:spcAft>
                        <a:buNone/>
                      </a:pPr>
                      <a:r>
                        <a:rPr lang="en-GB" sz="1800" b="1" u="none" strike="noStrike" cap="none">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13012">
                <a:tc>
                  <a:txBody>
                    <a:bodyPr/>
                    <a:lstStyle/>
                    <a:p>
                      <a:pPr marL="0" marR="0" lvl="0" indent="0" algn="ctr" rtl="0">
                        <a:spcBef>
                          <a:spcPts val="0"/>
                        </a:spcBef>
                        <a:spcAft>
                          <a:spcPts val="0"/>
                        </a:spcAft>
                        <a:buFont typeface="+mj-lt"/>
                        <a:buNone/>
                      </a:pPr>
                      <a:r>
                        <a:rPr lang="en-US" sz="1800" u="none" strike="noStrike" cap="none">
                          <a:latin typeface="Bookman Old Style"/>
                        </a:rPr>
                        <a:t>20221CSE0359 20221CSE0256</a:t>
                      </a:r>
                    </a:p>
                    <a:p>
                      <a:pPr marL="0" marR="0" lvl="0" indent="0" algn="ctr">
                        <a:spcBef>
                          <a:spcPts val="0"/>
                        </a:spcBef>
                        <a:spcAft>
                          <a:spcPts val="0"/>
                        </a:spcAft>
                        <a:buFont typeface="+mj-lt"/>
                        <a:buNone/>
                      </a:pPr>
                      <a:r>
                        <a:rPr lang="en-US" sz="1800" u="none" strike="noStrike" cap="none">
                          <a:latin typeface="Bookman Old Style"/>
                        </a:rPr>
                        <a:t>20221CSE0274</a:t>
                      </a:r>
                    </a:p>
                    <a:p>
                      <a:pPr marL="0" marR="0" lvl="0" indent="0" algn="ctr">
                        <a:spcBef>
                          <a:spcPts val="0"/>
                        </a:spcBef>
                        <a:spcAft>
                          <a:spcPts val="0"/>
                        </a:spcAft>
                        <a:buFont typeface="+mj-lt"/>
                        <a:buNone/>
                      </a:pPr>
                      <a:endParaRPr lang="en-US" sz="1800" u="none" strike="noStrike" cap="none">
                        <a:latin typeface="Bookman Old Styl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a:latin typeface="Bookman Old Style"/>
                        </a:rPr>
                        <a:t>Spandana KG</a:t>
                      </a:r>
                    </a:p>
                    <a:p>
                      <a:pPr marL="0" marR="0" lvl="0" indent="0" algn="ctr">
                        <a:spcBef>
                          <a:spcPts val="0"/>
                        </a:spcBef>
                        <a:spcAft>
                          <a:spcPts val="0"/>
                        </a:spcAft>
                        <a:buNone/>
                      </a:pPr>
                      <a:r>
                        <a:rPr lang="en-US" sz="1800" u="none" strike="noStrike" cap="none">
                          <a:latin typeface="Bookman Old Style"/>
                        </a:rPr>
                        <a:t>Misba Ain</a:t>
                      </a:r>
                    </a:p>
                    <a:p>
                      <a:pPr marL="0" marR="0" lvl="0" indent="0" algn="ctr">
                        <a:spcBef>
                          <a:spcPts val="0"/>
                        </a:spcBef>
                        <a:spcAft>
                          <a:spcPts val="0"/>
                        </a:spcAft>
                        <a:buNone/>
                      </a:pPr>
                      <a:r>
                        <a:rPr lang="en-US" sz="1800" u="none" strike="noStrike" cap="none">
                          <a:latin typeface="Bookman Old Style"/>
                        </a:rPr>
                        <a:t>M Priyanka</a:t>
                      </a:r>
                    </a:p>
                    <a:p>
                      <a:pPr marL="0" marR="0" lvl="0" indent="0" algn="ctr">
                        <a:spcBef>
                          <a:spcPts val="0"/>
                        </a:spcBef>
                        <a:spcAft>
                          <a:spcPts val="0"/>
                        </a:spcAft>
                        <a:buNone/>
                      </a:pPr>
                      <a:endParaRPr lang="en-US" sz="1800" u="none" strike="noStrike" cap="none">
                        <a:latin typeface="Bookman Old Styl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90245">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90245">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90245">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90245">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 Capstone Project</a:t>
            </a:r>
            <a:endParaRPr sz="180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a:t>
            </a:r>
            <a:r>
              <a:rPr lang="en-US" sz="1800" b="1" err="1">
                <a:solidFill>
                  <a:schemeClr val="tx1"/>
                </a:solidFill>
                <a:latin typeface="Cambria"/>
                <a:ea typeface="Cambria"/>
                <a:cs typeface="Verdana"/>
                <a:sym typeface="Verdana"/>
              </a:rPr>
              <a:t>B.Tech</a:t>
            </a:r>
            <a:r>
              <a:rPr lang="en-US" sz="1800" b="1">
                <a:solidFill>
                  <a:schemeClr val="tx1"/>
                </a:solidFill>
                <a:latin typeface="Cambria"/>
                <a:ea typeface="Cambria"/>
                <a:cs typeface="Verdana"/>
                <a:sym typeface="Verdana"/>
              </a:rPr>
              <a:t> CSE</a:t>
            </a:r>
            <a:endParaRPr lang="en-US" sz="1800" b="1" i="0" u="none" strike="noStrike" cap="none">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a:solidFill>
                  <a:schemeClr val="accent1"/>
                </a:solidFill>
                <a:latin typeface="Cambria"/>
                <a:ea typeface="Cambria"/>
                <a:cs typeface="Verdana"/>
                <a:sym typeface="Verdana"/>
              </a:rPr>
              <a:t>Name of the HoD: </a:t>
            </a:r>
            <a:r>
              <a:rPr lang="en-US" sz="1800" b="1">
                <a:solidFill>
                  <a:schemeClr val="tx1"/>
                </a:solidFill>
                <a:latin typeface="Cambria"/>
                <a:ea typeface="Cambria"/>
                <a:sym typeface="Verdana"/>
              </a:rPr>
              <a:t>Dr. Asif Mohammed</a:t>
            </a:r>
            <a:endParaRPr lang="en-US" sz="1800">
              <a:solidFill>
                <a:schemeClr val="tx1"/>
              </a:solidFill>
              <a:latin typeface="Cambria"/>
              <a:ea typeface="Cambria"/>
            </a:endParaRPr>
          </a:p>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Project Coordinator: </a:t>
            </a:r>
            <a:r>
              <a:rPr lang="en-US" sz="1800" b="1">
                <a:solidFill>
                  <a:schemeClr val="tx1"/>
                </a:solidFill>
                <a:latin typeface="Cambria"/>
                <a:ea typeface="Cambria"/>
                <a:sym typeface="Verdana"/>
              </a:rPr>
              <a:t>Dr. </a:t>
            </a:r>
            <a:r>
              <a:rPr lang="en-US" sz="1800" b="1" err="1">
                <a:solidFill>
                  <a:schemeClr val="tx1"/>
                </a:solidFill>
                <a:latin typeface="Cambria"/>
                <a:ea typeface="Cambria"/>
                <a:sym typeface="Verdana"/>
              </a:rPr>
              <a:t>Jayavadivel</a:t>
            </a:r>
            <a:r>
              <a:rPr lang="en-US" sz="1800" b="1">
                <a:solidFill>
                  <a:schemeClr val="tx1"/>
                </a:solidFill>
                <a:latin typeface="Cambria"/>
                <a:ea typeface="Cambria"/>
                <a:sym typeface="Verdana"/>
              </a:rPr>
              <a:t> Ravi</a:t>
            </a:r>
            <a:endParaRPr lang="en-US" sz="1800" b="1">
              <a:solidFill>
                <a:schemeClr val="tx1"/>
              </a:solidFill>
              <a:latin typeface="Cambria"/>
              <a:ea typeface="Cambria"/>
            </a:endParaRPr>
          </a:p>
          <a:p>
            <a:pPr lvl="0">
              <a:buClr>
                <a:srgbClr val="17365D"/>
              </a:buClr>
              <a:buSzPct val="100000"/>
            </a:pPr>
            <a:r>
              <a:rPr lang="en-US" sz="1800" b="1">
                <a:solidFill>
                  <a:schemeClr val="accent1"/>
                </a:solidFill>
                <a:latin typeface="Cambria"/>
                <a:ea typeface="Cambria"/>
                <a:cs typeface="Verdana"/>
                <a:sym typeface="Verdana"/>
              </a:rPr>
              <a:t>Name of the School Project Coordinators: </a:t>
            </a:r>
            <a:r>
              <a:rPr lang="en-US" sz="1800" b="1" i="0" u="none" strike="noStrike" cap="none">
                <a:solidFill>
                  <a:schemeClr val="tx1"/>
                </a:solidFill>
                <a:latin typeface="Cambria"/>
                <a:ea typeface="Cambria"/>
                <a:cs typeface="Verdana"/>
                <a:sym typeface="Verdana"/>
              </a:rPr>
              <a:t>Dr. Sampath A K , Dr. Geetha A </a:t>
            </a:r>
            <a:endParaRPr sz="1800" b="1" i="0" u="none" strike="noStrike" cap="none">
              <a:solidFill>
                <a:schemeClr val="tx1"/>
              </a:solidFill>
              <a:latin typeface="Cambria"/>
              <a:ea typeface="Cambri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Problem Statement Number: </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indent="-190500" algn="just">
              <a:spcBef>
                <a:spcPts val="0"/>
              </a:spcBef>
              <a:buNone/>
            </a:pPr>
            <a:r>
              <a:rPr lang="en-US" dirty="0">
                <a:latin typeface="Cambria"/>
                <a:ea typeface="Cambria"/>
              </a:rPr>
              <a:t>Organization: Travel And Tourism</a:t>
            </a:r>
            <a:endParaRPr lang="en-US" sz="1500" dirty="0">
              <a:latin typeface="Cambria" panose="02040503050406030204" pitchFamily="18" charset="0"/>
              <a:ea typeface="Cambria" panose="02040503050406030204" pitchFamily="18" charset="0"/>
            </a:endParaRPr>
          </a:p>
          <a:p>
            <a:pPr marL="342900" indent="-190500" algn="just">
              <a:spcBef>
                <a:spcPts val="0"/>
              </a:spcBef>
              <a:buNone/>
            </a:pPr>
            <a:endParaRPr lang="en-US" sz="1500" dirty="0">
              <a:latin typeface="Cambria"/>
              <a:ea typeface="Cambria"/>
            </a:endParaRPr>
          </a:p>
          <a:p>
            <a:pPr marL="342900" indent="-190500" algn="just">
              <a:spcBef>
                <a:spcPts val="0"/>
              </a:spcBef>
              <a:buNone/>
            </a:pPr>
            <a:r>
              <a:rPr lang="en-US" dirty="0">
                <a:latin typeface="Cambria"/>
                <a:ea typeface="Cambria"/>
              </a:rPr>
              <a:t>Category (Hardware / Software / Both) : Software </a:t>
            </a:r>
            <a:endParaRPr lang="en-US" sz="1500" dirty="0">
              <a:latin typeface="Cambria" panose="02040503050406030204" pitchFamily="18" charset="0"/>
              <a:ea typeface="Cambria" panose="02040503050406030204" pitchFamily="18" charset="0"/>
            </a:endParaRPr>
          </a:p>
          <a:p>
            <a:pPr marL="342900" indent="-190500" algn="just">
              <a:spcBef>
                <a:spcPts val="0"/>
              </a:spcBef>
              <a:buNone/>
            </a:pPr>
            <a:endParaRPr lang="en-US" sz="1500" dirty="0">
              <a:latin typeface="Cambria"/>
              <a:ea typeface="Cambria"/>
            </a:endParaRPr>
          </a:p>
          <a:p>
            <a:pPr marL="342900" indent="-190500" algn="just">
              <a:spcBef>
                <a:spcPts val="0"/>
              </a:spcBef>
              <a:buNone/>
            </a:pPr>
            <a:r>
              <a:rPr lang="en-US" dirty="0">
                <a:latin typeface="Cambria"/>
                <a:ea typeface="Cambria"/>
              </a:rPr>
              <a:t>Problem Description:</a:t>
            </a:r>
            <a:endParaRPr lang="en-US" dirty="0">
              <a:latin typeface="Cambria" panose="02040503050406030204" pitchFamily="18" charset="0"/>
              <a:ea typeface="Cambria" panose="02040503050406030204" pitchFamily="18" charset="0"/>
            </a:endParaRPr>
          </a:p>
          <a:p>
            <a:pPr marL="342900" indent="-190500" algn="just">
              <a:spcBef>
                <a:spcPts val="0"/>
              </a:spcBef>
              <a:buNone/>
            </a:pPr>
            <a:r>
              <a:rPr lang="en-US" sz="2000" dirty="0">
                <a:latin typeface="Times New Roman"/>
              </a:rPr>
              <a:t>The implementation of a chatbot for ticket booking in a museum addresses several critical needs, enhancing the overall visitor experience and streamlining museum operations. Here are the key reasons for adopting a chatbot ticket booking system: </a:t>
            </a:r>
          </a:p>
          <a:p>
            <a:pPr marL="342900" indent="-190500" algn="just">
              <a:spcBef>
                <a:spcPts val="0"/>
              </a:spcBef>
              <a:buNone/>
            </a:pPr>
            <a:r>
              <a:rPr lang="en-US" sz="2000" dirty="0">
                <a:latin typeface="Times New Roman"/>
              </a:rPr>
              <a:t>1. Improved Customer Service</a:t>
            </a:r>
          </a:p>
          <a:p>
            <a:pPr marL="342900" indent="-190500" algn="just">
              <a:spcBef>
                <a:spcPts val="0"/>
              </a:spcBef>
              <a:buNone/>
            </a:pPr>
            <a:r>
              <a:rPr lang="en-US" sz="2000" dirty="0">
                <a:latin typeface="Times New Roman"/>
              </a:rPr>
              <a:t>2. Efficient Handling of High Volumes </a:t>
            </a:r>
          </a:p>
          <a:p>
            <a:pPr marL="342900" indent="-190500" algn="just">
              <a:spcBef>
                <a:spcPts val="0"/>
              </a:spcBef>
              <a:buNone/>
            </a:pPr>
            <a:r>
              <a:rPr lang="en-US" sz="2000" dirty="0">
                <a:latin typeface="Times New Roman"/>
              </a:rPr>
              <a:t>3. Cost-Effective Solution </a:t>
            </a:r>
          </a:p>
          <a:p>
            <a:pPr marL="342900" indent="-190500" algn="just">
              <a:spcBef>
                <a:spcPts val="0"/>
              </a:spcBef>
              <a:buNone/>
            </a:pPr>
            <a:r>
              <a:rPr lang="en-US" sz="2000" dirty="0">
                <a:latin typeface="Times New Roman"/>
              </a:rPr>
              <a:t>4. Data Collection and Analysis </a:t>
            </a:r>
          </a:p>
          <a:p>
            <a:pPr marL="342900" indent="-190500" algn="just">
              <a:spcBef>
                <a:spcPts val="0"/>
              </a:spcBef>
              <a:buNone/>
            </a:pPr>
            <a:r>
              <a:rPr lang="en-US" sz="2000" dirty="0">
                <a:latin typeface="Times New Roman"/>
              </a:rPr>
              <a:t>5. Accessibility  </a:t>
            </a:r>
            <a:endParaRPr lang="en-US" sz="2000" dirty="0">
              <a:latin typeface="Cambria" panose="02040503050406030204" pitchFamily="18" charset="0"/>
              <a:ea typeface="Cambria" panose="02040503050406030204" pitchFamily="18" charset="0"/>
            </a:endParaRPr>
          </a:p>
          <a:p>
            <a:pPr marL="342900" indent="-190500" algn="just">
              <a:spcBef>
                <a:spcPts val="0"/>
              </a:spcBef>
              <a:buNone/>
            </a:pPr>
            <a:r>
              <a:rPr lang="en-US" sz="2000" dirty="0">
                <a:latin typeface="Times New Roman"/>
              </a:rPr>
              <a:t>6. Reduced Human Error </a:t>
            </a:r>
          </a:p>
          <a:p>
            <a:pPr marL="342900" indent="-190500" algn="just">
              <a:spcBef>
                <a:spcPts val="0"/>
              </a:spcBef>
              <a:buNone/>
            </a:pPr>
            <a:r>
              <a:rPr lang="en-US" sz="2000" dirty="0">
                <a:latin typeface="Times New Roman"/>
              </a:rPr>
              <a:t>7. Multilingual Support </a:t>
            </a:r>
          </a:p>
          <a:p>
            <a:pPr marL="342900" lvl="0" indent="-190500" algn="just">
              <a:spcBef>
                <a:spcPts val="0"/>
              </a:spcBef>
              <a:buNone/>
            </a:pPr>
            <a:r>
              <a:rPr lang="en-US" sz="2000" dirty="0">
                <a:latin typeface="Times New Roman"/>
              </a:rPr>
              <a:t>8. Enhanced Marketing and Promotion </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93152" y="1090492"/>
            <a:ext cx="10668000" cy="4686299"/>
          </a:xfrm>
          <a:prstGeom prst="rect">
            <a:avLst/>
          </a:prstGeom>
          <a:noFill/>
          <a:ln>
            <a:noFill/>
          </a:ln>
        </p:spPr>
        <p:txBody>
          <a:bodyPr spcFirstLastPara="1" wrap="square" lIns="91425" tIns="45700" rIns="91425" bIns="45700" anchor="t" anchorCtr="0">
            <a:normAutofit/>
          </a:bodyPr>
          <a:lstStyle/>
          <a:p>
            <a:pPr marL="152400" indent="0" algn="just">
              <a:lnSpc>
                <a:spcPct val="200000"/>
              </a:lnSpc>
              <a:spcBef>
                <a:spcPts val="0"/>
              </a:spcBef>
              <a:buNone/>
            </a:pPr>
            <a:r>
              <a:rPr lang="en-US" sz="2000" b="1">
                <a:latin typeface="Times New Roman"/>
                <a:ea typeface="Cambria"/>
              </a:rPr>
              <a:t>Problem Statement</a:t>
            </a:r>
            <a:endParaRPr lang="en-US"/>
          </a:p>
          <a:p>
            <a:pPr algn="just">
              <a:buFont typeface="Arial" panose="05000000000000000000" pitchFamily="2" charset="2"/>
              <a:buChar char="•"/>
            </a:pPr>
            <a:r>
              <a:rPr lang="en-US" sz="2000">
                <a:latin typeface="Times New Roman"/>
              </a:rPr>
              <a:t>Visitors to popular venues like museums often face significant challenges with manual ticket booking systems.</a:t>
            </a:r>
            <a:endParaRPr lang="en-US" sz="2000">
              <a:latin typeface="Times New Roman"/>
              <a:ea typeface="Cambria" panose="02040503050406030204" pitchFamily="18" charset="0"/>
            </a:endParaRPr>
          </a:p>
          <a:p>
            <a:pPr algn="just">
              <a:buFont typeface="Arial" panose="05000000000000000000" pitchFamily="2" charset="2"/>
              <a:buChar char="•"/>
            </a:pPr>
            <a:r>
              <a:rPr lang="en-US" sz="2000" b="1">
                <a:latin typeface="Times New Roman"/>
              </a:rPr>
              <a:t>Inefficiency and Time Consumption:</a:t>
            </a:r>
            <a:r>
              <a:rPr lang="en-US" sz="2000">
                <a:latin typeface="Times New Roman"/>
              </a:rPr>
              <a:t> Long queues are common, especially during peak hours and weekends, leading to frustration and a poor visitor experience.</a:t>
            </a:r>
          </a:p>
          <a:p>
            <a:pPr algn="just">
              <a:buFont typeface="Arial" panose="05000000000000000000" pitchFamily="2" charset="2"/>
              <a:buChar char="•"/>
            </a:pPr>
            <a:r>
              <a:rPr lang="en-US" sz="2000" b="1">
                <a:latin typeface="Times New Roman"/>
              </a:rPr>
              <a:t>Proneness to Errors:</a:t>
            </a:r>
            <a:r>
              <a:rPr lang="en-US" sz="2000">
                <a:latin typeface="Times New Roman"/>
              </a:rPr>
              <a:t> Manual systems are susceptible to errors such as incorrect ticket issuance, double bookings, or lost records, which cause further delays and inconvenience.</a:t>
            </a:r>
          </a:p>
          <a:p>
            <a:pPr algn="just">
              <a:buFont typeface="Arial" panose="05000000000000000000" pitchFamily="2" charset="2"/>
              <a:buChar char="•"/>
            </a:pPr>
            <a:r>
              <a:rPr lang="en-US" sz="2000" b="1">
                <a:latin typeface="Times New Roman"/>
              </a:rPr>
              <a:t>Lack of Accessibility:</a:t>
            </a:r>
            <a:r>
              <a:rPr lang="en-US" sz="2000">
                <a:latin typeface="Times New Roman"/>
              </a:rPr>
              <a:t> These systems often lack multilingual support and are not easily accessible to users who require instant information or have special queries.</a:t>
            </a:r>
          </a:p>
          <a:p>
            <a:pPr algn="just">
              <a:buFont typeface="Arial" panose="05000000000000000000" pitchFamily="2" charset="2"/>
              <a:buChar char="•"/>
            </a:pPr>
            <a:r>
              <a:rPr lang="en-US" sz="2000" b="1">
                <a:latin typeface="Times New Roman"/>
              </a:rPr>
              <a:t>Operational Overhead:</a:t>
            </a:r>
            <a:r>
              <a:rPr lang="en-US" sz="2000">
                <a:latin typeface="Times New Roman"/>
              </a:rPr>
              <a:t> Manual ticketing detracts from the overall visitor experience, reduces satisfaction, and can negatively impact the museum's reputation and operational efficiency.</a:t>
            </a:r>
          </a:p>
          <a:p>
            <a:pPr marL="495300" indent="-342900" algn="just">
              <a:lnSpc>
                <a:spcPct val="200000"/>
              </a:lnSpc>
              <a:spcBef>
                <a:spcPts val="0"/>
              </a:spcBef>
              <a:buFont typeface="Wingdings" panose="05000000000000000000" pitchFamily="2" charset="2"/>
              <a:buChar char="Ø"/>
            </a:pPr>
            <a:endParaRPr lang="en-US" sz="2000">
              <a:latin typeface="Times New Roman"/>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a:latin typeface="Times New Roman"/>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Content (continuation)..</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03590" y="1111369"/>
            <a:ext cx="10678438" cy="4634107"/>
          </a:xfrm>
          <a:prstGeom prst="rect">
            <a:avLst/>
          </a:prstGeom>
          <a:noFill/>
          <a:ln>
            <a:noFill/>
          </a:ln>
        </p:spPr>
        <p:txBody>
          <a:bodyPr spcFirstLastPara="1" wrap="square" lIns="91425" tIns="45700" rIns="91425" bIns="45700" anchor="t" anchorCtr="0">
            <a:normAutofit fontScale="92500" lnSpcReduction="10000"/>
          </a:bodyPr>
          <a:lstStyle/>
          <a:p>
            <a:pPr marL="152400" indent="0" algn="just">
              <a:lnSpc>
                <a:spcPct val="200000"/>
              </a:lnSpc>
              <a:spcBef>
                <a:spcPts val="0"/>
              </a:spcBef>
              <a:buNone/>
            </a:pPr>
            <a:r>
              <a:rPr lang="en-US" b="1">
                <a:latin typeface="Cambria"/>
                <a:ea typeface="Cambria"/>
              </a:rPr>
              <a:t>Objectives</a:t>
            </a:r>
          </a:p>
          <a:p>
            <a:pPr marL="76200" indent="0" algn="just">
              <a:buNone/>
            </a:pPr>
            <a:r>
              <a:rPr lang="en-US"/>
              <a:t>The primary objectives of this project are:</a:t>
            </a:r>
            <a:endParaRPr lang="en-US">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a:t>To design and develop an intelligent, conversational AI chatbot for booking tickets in a natural, user-friendly manner.</a:t>
            </a:r>
          </a:p>
          <a:p>
            <a:pPr algn="just">
              <a:buFont typeface="Arial" panose="020B0604020202020204" pitchFamily="34" charset="0"/>
              <a:buChar char="•"/>
            </a:pPr>
            <a:r>
              <a:rPr lang="en-US"/>
              <a:t>To implement a secure and reliable payment gateway (e.g., Stripe, </a:t>
            </a:r>
            <a:r>
              <a:rPr lang="en-US" err="1"/>
              <a:t>Razorpay</a:t>
            </a:r>
            <a:r>
              <a:rPr lang="en-US"/>
              <a:t>) for seamless online transactions.</a:t>
            </a:r>
          </a:p>
          <a:p>
            <a:pPr algn="just">
              <a:buFont typeface="Arial" panose="020B0604020202020204" pitchFamily="34" charset="0"/>
              <a:buChar char="•"/>
            </a:pPr>
            <a:r>
              <a:rPr lang="en-US"/>
              <a:t>To build a multilingual system that can cater to a diverse, international audience.</a:t>
            </a:r>
          </a:p>
          <a:p>
            <a:pPr algn="just">
              <a:buFont typeface="Arial" panose="020B0604020202020204" pitchFamily="34" charset="0"/>
              <a:buChar char="•"/>
            </a:pPr>
            <a:r>
              <a:rPr lang="en-US"/>
              <a:t>To create a back-end admin dashboard for staff to monitor bookings, view analytics, and manage event listings.</a:t>
            </a:r>
          </a:p>
          <a:p>
            <a:pPr algn="just">
              <a:buFont typeface="Arial" panose="020B0604020202020204" pitchFamily="34" charset="0"/>
              <a:buChar char="•"/>
            </a:pPr>
            <a:r>
              <a:rPr lang="en-US"/>
              <a:t>To enhance the visitor experience by reducing wait times, eliminating booking errors, and providing 24/7 support for inquiries.</a:t>
            </a:r>
          </a:p>
          <a:p>
            <a:pPr marL="495300" indent="-342900" algn="just">
              <a:lnSpc>
                <a:spcPct val="200000"/>
              </a:lnSpc>
              <a:spcBef>
                <a:spcPts val="0"/>
              </a:spcBef>
              <a:buFont typeface="Arial" panose="020B0604020202020204" pitchFamily="34" charset="0"/>
              <a:buChar char="•"/>
            </a:pPr>
            <a:endParaRPr lang="en-US">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None/>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CEC82-E529-6AFF-ADD4-C8650F1BC452}"/>
              </a:ext>
            </a:extLst>
          </p:cNvPr>
          <p:cNvSpPr>
            <a:spLocks noGrp="1"/>
          </p:cNvSpPr>
          <p:nvPr>
            <p:ph type="title"/>
          </p:nvPr>
        </p:nvSpPr>
        <p:spPr/>
        <p:txBody>
          <a:bodyPr/>
          <a:lstStyle/>
          <a:p>
            <a:r>
              <a:rPr lang="en-GB">
                <a:latin typeface="Cambria"/>
                <a:ea typeface="Cambria"/>
              </a:rPr>
              <a:t>Content (continuation)..</a:t>
            </a:r>
            <a:endParaRPr lang="en-US"/>
          </a:p>
        </p:txBody>
      </p:sp>
      <p:sp>
        <p:nvSpPr>
          <p:cNvPr id="3" name="Text Placeholder 2">
            <a:extLst>
              <a:ext uri="{FF2B5EF4-FFF2-40B4-BE49-F238E27FC236}">
                <a16:creationId xmlns:a16="http://schemas.microsoft.com/office/drawing/2014/main" id="{4EC62B7B-EE0E-B7D4-4648-50964BAD6EF0}"/>
              </a:ext>
            </a:extLst>
          </p:cNvPr>
          <p:cNvSpPr>
            <a:spLocks noGrp="1"/>
          </p:cNvSpPr>
          <p:nvPr>
            <p:ph type="body" idx="1"/>
          </p:nvPr>
        </p:nvSpPr>
        <p:spPr/>
        <p:txBody>
          <a:bodyPr>
            <a:normAutofit fontScale="85000" lnSpcReduction="20000"/>
          </a:bodyPr>
          <a:lstStyle/>
          <a:p>
            <a:pPr marL="76200" indent="0">
              <a:buNone/>
            </a:pPr>
            <a:r>
              <a:rPr lang="en-US" b="1"/>
              <a:t>Background and Related Work </a:t>
            </a:r>
          </a:p>
          <a:p>
            <a:r>
              <a:rPr lang="en-US" b="1"/>
              <a:t>Traditional Systems:</a:t>
            </a:r>
            <a:r>
              <a:rPr lang="en-US"/>
              <a:t> Existing solutions primarily consist of on-site manual ticket counters or basic web-based forms. While functional, these systems are not interactive and contribute to the problems of long queues and high pre-visit friction.</a:t>
            </a:r>
          </a:p>
          <a:p>
            <a:r>
              <a:rPr lang="en-US" b="1"/>
              <a:t>Generic E-commerce Chatbots:</a:t>
            </a:r>
            <a:r>
              <a:rPr lang="en-US"/>
              <a:t> Many e-commerce sites use chatbots for customer support. However, they are often generic and not tailored for the specific, event-driven context of ticketing for museums or cultural venues, which involves dates, time slots, and varied ticket types.</a:t>
            </a:r>
          </a:p>
          <a:p>
            <a:r>
              <a:rPr lang="en-US" b="1"/>
              <a:t>Academic Research:</a:t>
            </a:r>
            <a:r>
              <a:rPr lang="en-US"/>
              <a:t> Research in Conversational AI, such as work by Cui et al. (2017) on deep learning for chatbot sentence generation, shows the potential for creating highly natural and effective conversational agents. However, there is a gap in applying these advanced agents specifically to the tourism and cultural heritage sector with an integrated analytics component.</a:t>
            </a:r>
          </a:p>
          <a:p>
            <a:r>
              <a:rPr lang="en-US" b="1"/>
              <a:t>Conclusion:</a:t>
            </a:r>
            <a:r>
              <a:rPr lang="en-US"/>
              <a:t> This project fills a niche by creating a specialized, multilingual chatbot designed for the unique requirements of museum ticketing, moving beyond simple Q&amp;A to a fully transactional system.</a:t>
            </a:r>
          </a:p>
          <a:p>
            <a:endParaRPr lang="en-US"/>
          </a:p>
        </p:txBody>
      </p:sp>
    </p:spTree>
    <p:extLst>
      <p:ext uri="{BB962C8B-B14F-4D97-AF65-F5344CB8AC3E}">
        <p14:creationId xmlns:p14="http://schemas.microsoft.com/office/powerpoint/2010/main" val="12654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7A7AC-FED1-ED6F-5B45-53E38759CE3F}"/>
              </a:ext>
            </a:extLst>
          </p:cNvPr>
          <p:cNvSpPr>
            <a:spLocks noGrp="1"/>
          </p:cNvSpPr>
          <p:nvPr>
            <p:ph type="title"/>
          </p:nvPr>
        </p:nvSpPr>
        <p:spPr/>
        <p:txBody>
          <a:bodyPr/>
          <a:lstStyle/>
          <a:p>
            <a:r>
              <a:rPr lang="en-US">
                <a:latin typeface="Cambria"/>
                <a:ea typeface="Cambria"/>
              </a:rPr>
              <a:t>Analysis of Problem Statement</a:t>
            </a:r>
            <a:endParaRPr lang="en-US"/>
          </a:p>
        </p:txBody>
      </p:sp>
      <p:sp>
        <p:nvSpPr>
          <p:cNvPr id="3" name="Text Placeholder 2">
            <a:extLst>
              <a:ext uri="{FF2B5EF4-FFF2-40B4-BE49-F238E27FC236}">
                <a16:creationId xmlns:a16="http://schemas.microsoft.com/office/drawing/2014/main" id="{C09452D6-08AA-6B8A-3411-891BE621B0CA}"/>
              </a:ext>
            </a:extLst>
          </p:cNvPr>
          <p:cNvSpPr>
            <a:spLocks noGrp="1"/>
          </p:cNvSpPr>
          <p:nvPr>
            <p:ph type="body" idx="1"/>
          </p:nvPr>
        </p:nvSpPr>
        <p:spPr/>
        <p:txBody>
          <a:bodyPr>
            <a:normAutofit fontScale="92500" lnSpcReduction="10000"/>
          </a:bodyPr>
          <a:lstStyle/>
          <a:p>
            <a:pPr marL="76200" indent="0">
              <a:buNone/>
            </a:pPr>
            <a:r>
              <a:rPr lang="en-US" b="1"/>
              <a:t>Technology Stack</a:t>
            </a:r>
          </a:p>
          <a:p>
            <a:r>
              <a:rPr lang="en-US"/>
              <a:t>Frontend (Chat Interface):</a:t>
            </a:r>
          </a:p>
          <a:p>
            <a:pPr marL="76200" indent="0">
              <a:buNone/>
            </a:pPr>
            <a:r>
              <a:rPr lang="en-US"/>
              <a:t>        Next js: </a:t>
            </a:r>
            <a:r>
              <a:rPr lang="en-US" sz="2000"/>
              <a:t>React-based framework for building fast, SEO-friendly web apps.</a:t>
            </a:r>
          </a:p>
          <a:p>
            <a:pPr marL="76200" indent="0">
              <a:buNone/>
            </a:pPr>
            <a:r>
              <a:rPr lang="en-US"/>
              <a:t>        Tailwind: </a:t>
            </a:r>
            <a:r>
              <a:rPr lang="en-US" sz="2000"/>
              <a:t>Utility-first CSS framework for styling.</a:t>
            </a:r>
          </a:p>
          <a:p>
            <a:r>
              <a:rPr lang="en-US"/>
              <a:t>Backend (Server &amp; Business Logic):</a:t>
            </a:r>
          </a:p>
          <a:p>
            <a:pPr marL="76200" indent="0">
              <a:buNone/>
            </a:pPr>
            <a:r>
              <a:rPr lang="en-US"/>
              <a:t>         Firebase: </a:t>
            </a:r>
            <a:r>
              <a:rPr lang="en-US" sz="2000"/>
              <a:t>Real-time database, authentication, and hosting.</a:t>
            </a:r>
          </a:p>
          <a:p>
            <a:pPr marL="76200" indent="0">
              <a:buNone/>
            </a:pPr>
            <a:r>
              <a:rPr lang="en-US"/>
              <a:t>         Node.js: </a:t>
            </a:r>
            <a:r>
              <a:rPr lang="en-US" sz="2000"/>
              <a:t>JavaScript runtime for building scalable server-side applications.</a:t>
            </a:r>
          </a:p>
          <a:p>
            <a:r>
              <a:rPr lang="en-US"/>
              <a:t>NLP Service (The Brain)</a:t>
            </a:r>
          </a:p>
          <a:p>
            <a:pPr marL="76200" indent="0">
              <a:buNone/>
            </a:pPr>
            <a:r>
              <a:rPr lang="en-US"/>
              <a:t>          Google AI: </a:t>
            </a:r>
            <a:r>
              <a:rPr lang="en-US" sz="2200"/>
              <a:t>Natural Language Processing for chat understanding and responses.</a:t>
            </a:r>
          </a:p>
          <a:p>
            <a:r>
              <a:rPr lang="en-US"/>
              <a:t>Deployment:</a:t>
            </a:r>
          </a:p>
          <a:p>
            <a:pPr marL="76200" indent="0">
              <a:buNone/>
            </a:pPr>
            <a:r>
              <a:rPr lang="en-US"/>
              <a:t>          Google cloud: </a:t>
            </a:r>
            <a:r>
              <a:rPr lang="en-US" sz="2200"/>
              <a:t>Cloud hosting, scalability, and infrastructure management.</a:t>
            </a:r>
          </a:p>
          <a:p>
            <a:endParaRPr lang="en-US"/>
          </a:p>
        </p:txBody>
      </p:sp>
    </p:spTree>
    <p:extLst>
      <p:ext uri="{BB962C8B-B14F-4D97-AF65-F5344CB8AC3E}">
        <p14:creationId xmlns:p14="http://schemas.microsoft.com/office/powerpoint/2010/main" val="2910395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72CBB-2266-F2B0-A7AE-FC03FBA586B3}"/>
              </a:ext>
            </a:extLst>
          </p:cNvPr>
          <p:cNvSpPr>
            <a:spLocks noGrp="1"/>
          </p:cNvSpPr>
          <p:nvPr>
            <p:ph type="title"/>
          </p:nvPr>
        </p:nvSpPr>
        <p:spPr/>
        <p:txBody>
          <a:bodyPr/>
          <a:lstStyle/>
          <a:p>
            <a:r>
              <a:rPr lang="en-US">
                <a:latin typeface="Cambria"/>
                <a:ea typeface="Cambria"/>
              </a:rPr>
              <a:t>Analysis of Problem Statement </a:t>
            </a:r>
            <a:r>
              <a:rPr lang="en-US" sz="2000">
                <a:latin typeface="Cambria"/>
                <a:ea typeface="Cambria"/>
              </a:rPr>
              <a:t>(contd...)</a:t>
            </a:r>
            <a:endParaRPr lang="en-US"/>
          </a:p>
        </p:txBody>
      </p:sp>
      <p:sp>
        <p:nvSpPr>
          <p:cNvPr id="3" name="Text Placeholder 2">
            <a:extLst>
              <a:ext uri="{FF2B5EF4-FFF2-40B4-BE49-F238E27FC236}">
                <a16:creationId xmlns:a16="http://schemas.microsoft.com/office/drawing/2014/main" id="{02715B10-08BC-4676-825F-7E2AD2BCD935}"/>
              </a:ext>
            </a:extLst>
          </p:cNvPr>
          <p:cNvSpPr>
            <a:spLocks noGrp="1"/>
          </p:cNvSpPr>
          <p:nvPr>
            <p:ph type="body" idx="1"/>
          </p:nvPr>
        </p:nvSpPr>
        <p:spPr/>
        <p:txBody>
          <a:bodyPr>
            <a:normAutofit/>
          </a:bodyPr>
          <a:lstStyle/>
          <a:p>
            <a:pPr marL="76200" indent="0">
              <a:buNone/>
            </a:pPr>
            <a:r>
              <a:rPr lang="en-US" b="1"/>
              <a:t>Software Requirements:</a:t>
            </a:r>
            <a:endParaRPr lang="en-US"/>
          </a:p>
          <a:p>
            <a:r>
              <a:rPr lang="en-US" b="1"/>
              <a:t>Operating System:</a:t>
            </a:r>
            <a:r>
              <a:rPr lang="en-US"/>
              <a:t> Windows 11</a:t>
            </a:r>
          </a:p>
          <a:p>
            <a:r>
              <a:rPr lang="en-US" b="1"/>
              <a:t>Development Environment:</a:t>
            </a:r>
            <a:r>
              <a:rPr lang="en-US"/>
              <a:t> Visual Studio Code</a:t>
            </a:r>
          </a:p>
          <a:p>
            <a:r>
              <a:rPr lang="en-US" b="1"/>
              <a:t>Runtimes:</a:t>
            </a:r>
            <a:r>
              <a:rPr lang="en-US"/>
              <a:t> Node.js </a:t>
            </a:r>
          </a:p>
          <a:p>
            <a:r>
              <a:rPr lang="en-US" b="1"/>
              <a:t>Database:</a:t>
            </a:r>
            <a:r>
              <a:rPr lang="en-US"/>
              <a:t> Firebase</a:t>
            </a:r>
          </a:p>
          <a:p>
            <a:r>
              <a:rPr lang="en-US" b="1"/>
              <a:t>API Testing Tool:</a:t>
            </a:r>
            <a:r>
              <a:rPr lang="en-US"/>
              <a:t> Postman</a:t>
            </a:r>
          </a:p>
          <a:p>
            <a:r>
              <a:rPr lang="en-US" b="1"/>
              <a:t>Version Control:</a:t>
            </a:r>
            <a:r>
              <a:rPr lang="en-US"/>
              <a:t> Git</a:t>
            </a:r>
          </a:p>
          <a:p>
            <a:pPr marL="76200" indent="0">
              <a:buNone/>
            </a:pPr>
            <a:r>
              <a:rPr lang="en-US" b="1"/>
              <a:t>Hardware Requirements:</a:t>
            </a:r>
            <a:endParaRPr lang="en-US"/>
          </a:p>
          <a:p>
            <a:r>
              <a:rPr lang="en-US" b="1"/>
              <a:t>Processor:</a:t>
            </a:r>
            <a:r>
              <a:rPr lang="en-US"/>
              <a:t> Intel Core i3 </a:t>
            </a:r>
          </a:p>
          <a:p>
            <a:r>
              <a:rPr lang="en-US" b="1"/>
              <a:t>RAM:</a:t>
            </a:r>
            <a:r>
              <a:rPr lang="en-US"/>
              <a:t> Minimum 8 GB</a:t>
            </a:r>
          </a:p>
          <a:p>
            <a:r>
              <a:rPr lang="en-US" b="1"/>
              <a:t>Storage:</a:t>
            </a:r>
            <a:r>
              <a:rPr lang="en-US"/>
              <a:t> Minimum 256 GB of free disk space</a:t>
            </a:r>
          </a:p>
          <a:p>
            <a:endParaRPr lang="en-US"/>
          </a:p>
        </p:txBody>
      </p:sp>
    </p:spTree>
    <p:extLst>
      <p:ext uri="{BB962C8B-B14F-4D97-AF65-F5344CB8AC3E}">
        <p14:creationId xmlns:p14="http://schemas.microsoft.com/office/powerpoint/2010/main" val="1347159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9A40F-F8C8-1538-1D1A-E71E0A08F8AE}"/>
              </a:ext>
            </a:extLst>
          </p:cNvPr>
          <p:cNvSpPr>
            <a:spLocks noGrp="1"/>
          </p:cNvSpPr>
          <p:nvPr>
            <p:ph type="title"/>
          </p:nvPr>
        </p:nvSpPr>
        <p:spPr/>
        <p:txBody>
          <a:bodyPr/>
          <a:lstStyle/>
          <a:p>
            <a:br>
              <a:rPr lang="en-US">
                <a:latin typeface="Cambria"/>
                <a:ea typeface="Cambria"/>
              </a:rPr>
            </a:br>
            <a:r>
              <a:rPr lang="en-US">
                <a:latin typeface="Cambria"/>
                <a:ea typeface="Cambria"/>
              </a:rPr>
              <a:t>Analysis of Problem Statement </a:t>
            </a:r>
            <a:r>
              <a:rPr lang="en-US" sz="2000">
                <a:latin typeface="Cambria"/>
                <a:ea typeface="Cambria"/>
              </a:rPr>
              <a:t>(contd...)</a:t>
            </a:r>
            <a:endParaRPr lang="en-US" sz="2000" b="0">
              <a:solidFill>
                <a:srgbClr val="000000"/>
              </a:solidFill>
              <a:latin typeface="Cambria"/>
              <a:ea typeface="Cambria"/>
            </a:endParaRPr>
          </a:p>
          <a:p>
            <a:endParaRPr lang="en-US"/>
          </a:p>
        </p:txBody>
      </p:sp>
      <p:sp>
        <p:nvSpPr>
          <p:cNvPr id="3" name="Text Placeholder 2">
            <a:extLst>
              <a:ext uri="{FF2B5EF4-FFF2-40B4-BE49-F238E27FC236}">
                <a16:creationId xmlns:a16="http://schemas.microsoft.com/office/drawing/2014/main" id="{A1D221CC-C550-90D6-8B68-9DDAA182445D}"/>
              </a:ext>
            </a:extLst>
          </p:cNvPr>
          <p:cNvSpPr>
            <a:spLocks noGrp="1"/>
          </p:cNvSpPr>
          <p:nvPr>
            <p:ph type="body" idx="1"/>
          </p:nvPr>
        </p:nvSpPr>
        <p:spPr>
          <a:xfrm>
            <a:off x="604033" y="923796"/>
            <a:ext cx="10647122" cy="5527107"/>
          </a:xfrm>
        </p:spPr>
        <p:txBody>
          <a:bodyPr spcFirstLastPara="1" wrap="square" lIns="91425" tIns="45700" rIns="91425" bIns="45700" anchor="t" anchorCtr="0">
            <a:noAutofit/>
          </a:bodyPr>
          <a:lstStyle/>
          <a:p>
            <a:r>
              <a:rPr lang="en-US" sz="2000"/>
              <a:t>Manual ticket booking in museums often leads to </a:t>
            </a:r>
            <a:r>
              <a:rPr lang="en-US" sz="2000" b="1"/>
              <a:t>long queues</a:t>
            </a:r>
            <a:r>
              <a:rPr lang="en-US" sz="2000"/>
              <a:t>, errors, and visitor dissatisfaction, especially during peak times. Issues like incorrect tickets, double bookings, and lost records slow down entry and harm the visitor experience.</a:t>
            </a:r>
            <a:endParaRPr lang="en-US"/>
          </a:p>
          <a:p>
            <a:r>
              <a:rPr lang="en-US" sz="2000"/>
              <a:t>A </a:t>
            </a:r>
            <a:r>
              <a:rPr lang="en-US" sz="2000" b="1"/>
              <a:t>multilingual chatbot-based system</a:t>
            </a:r>
            <a:r>
              <a:rPr lang="en-US" sz="2000"/>
              <a:t> solves these problems in real time. Visitors can </a:t>
            </a:r>
            <a:r>
              <a:rPr lang="en-US" sz="2000" b="1"/>
              <a:t>book anytime, anywhere</a:t>
            </a:r>
            <a:r>
              <a:rPr lang="en-US" sz="2000"/>
              <a:t>, pay securely, and get instant confirmations—eliminating queues. The chatbot handles thousands of bookings, shares </a:t>
            </a:r>
            <a:r>
              <a:rPr lang="en-US" sz="2000" b="1"/>
              <a:t>live updates</a:t>
            </a:r>
            <a:r>
              <a:rPr lang="en-US" sz="2000"/>
              <a:t> on availability and show timings, and supports multiple languages for global accessibility.</a:t>
            </a:r>
            <a:endParaRPr lang="en-US"/>
          </a:p>
          <a:p>
            <a:r>
              <a:rPr lang="en-US" sz="2000"/>
              <a:t>With </a:t>
            </a:r>
            <a:r>
              <a:rPr lang="en-US" sz="2000" b="1"/>
              <a:t>real-time analytics</a:t>
            </a:r>
            <a:r>
              <a:rPr lang="en-US" sz="2000"/>
              <a:t>, museums can track visitor flow, predict peak hours, and plan resources better—leading to faster service, happier visitors, and improved revenue.</a:t>
            </a:r>
            <a:endParaRPr lang="en-US"/>
          </a:p>
          <a:p>
            <a:r>
              <a:rPr lang="en-US" sz="2000" b="1"/>
              <a:t>Impact:</a:t>
            </a:r>
            <a:r>
              <a:rPr lang="en-US" sz="2000"/>
              <a:t> Faster booking • Zero queues • Higher satisfaction • Smarter operations</a:t>
            </a:r>
            <a:endParaRPr lang="en-US"/>
          </a:p>
          <a:p>
            <a:endParaRPr lang="en-US" sz="2000"/>
          </a:p>
        </p:txBody>
      </p:sp>
    </p:spTree>
    <p:extLst>
      <p:ext uri="{BB962C8B-B14F-4D97-AF65-F5344CB8AC3E}">
        <p14:creationId xmlns:p14="http://schemas.microsoft.com/office/powerpoint/2010/main" val="64649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40C94-71EA-A3B9-23E6-E5EDD0E2AAAA}"/>
              </a:ext>
            </a:extLst>
          </p:cNvPr>
          <p:cNvSpPr>
            <a:spLocks noGrp="1"/>
          </p:cNvSpPr>
          <p:nvPr>
            <p:ph type="title"/>
          </p:nvPr>
        </p:nvSpPr>
        <p:spPr/>
        <p:txBody>
          <a:bodyPr/>
          <a:lstStyle/>
          <a:p>
            <a:r>
              <a:rPr lang="en-US" b="0"/>
              <a:t>Innovation or Novel Contributions</a:t>
            </a:r>
            <a:endParaRPr lang="en-US"/>
          </a:p>
        </p:txBody>
      </p:sp>
      <p:sp>
        <p:nvSpPr>
          <p:cNvPr id="3" name="Text Placeholder 2">
            <a:extLst>
              <a:ext uri="{FF2B5EF4-FFF2-40B4-BE49-F238E27FC236}">
                <a16:creationId xmlns:a16="http://schemas.microsoft.com/office/drawing/2014/main" id="{EE24A241-3447-1BB5-65E0-5386B8ACBF0A}"/>
              </a:ext>
            </a:extLst>
          </p:cNvPr>
          <p:cNvSpPr>
            <a:spLocks noGrp="1"/>
          </p:cNvSpPr>
          <p:nvPr>
            <p:ph type="body" idx="1"/>
          </p:nvPr>
        </p:nvSpPr>
        <p:spPr/>
        <p:txBody>
          <a:bodyPr>
            <a:normAutofit fontScale="92500" lnSpcReduction="10000"/>
          </a:bodyPr>
          <a:lstStyle/>
          <a:p>
            <a:r>
              <a:rPr lang="en-US" b="1"/>
              <a:t>Domain-Specific Conversational Intelligence:</a:t>
            </a:r>
            <a:r>
              <a:rPr lang="en-US"/>
              <a:t> Unlike generic bots, this system is engineered specifically for the museum/tourism domain. It will be trained to handle context-aware queries about exhibits, artists, and event schedules, providing a highly specialized user experience.</a:t>
            </a:r>
          </a:p>
          <a:p>
            <a:r>
              <a:rPr lang="en-US" b="1"/>
              <a:t>Seamless Integration of Multilingual Support:</a:t>
            </a:r>
            <a:r>
              <a:rPr lang="en-US"/>
              <a:t> The chatbot architecture is designed from the ground up to support multiple languages within the same conversational flow, making it accessible to international tourists and non-native speakers.</a:t>
            </a:r>
          </a:p>
          <a:p>
            <a:r>
              <a:rPr lang="en-US" b="1"/>
              <a:t>Actionable Analytics for Operations:</a:t>
            </a:r>
            <a:r>
              <a:rPr lang="en-US"/>
              <a:t> The project includes an admin dashboard that presents booking data and visitor traffic patterns. This provides the museum with actionable insights to optimize staffing, manage crowd flow, and make data-driven decisions, directly contributing to SDG 12 (Responsible Production).</a:t>
            </a:r>
          </a:p>
          <a:p>
            <a:endParaRPr lang="en-US"/>
          </a:p>
        </p:txBody>
      </p:sp>
    </p:spTree>
    <p:extLst>
      <p:ext uri="{BB962C8B-B14F-4D97-AF65-F5344CB8AC3E}">
        <p14:creationId xmlns:p14="http://schemas.microsoft.com/office/powerpoint/2010/main" val="3031679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atin typeface="Cambria" panose="02040503050406030204" pitchFamily="18" charset="0"/>
                <a:ea typeface="Cambria" panose="02040503050406030204" pitchFamily="18" charset="0"/>
              </a:rPr>
              <a:t>Github Link</a:t>
            </a:r>
          </a:p>
        </p:txBody>
      </p:sp>
      <p:sp>
        <p:nvSpPr>
          <p:cNvPr id="5" name="Google Shape;115;p17"/>
          <p:cNvSpPr txBox="1">
            <a:spLocks/>
          </p:cNvSpPr>
          <p:nvPr/>
        </p:nvSpPr>
        <p:spPr>
          <a:xfrm>
            <a:off x="812800" y="1132562"/>
            <a:ext cx="10407042" cy="8693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None/>
            </a:pPr>
            <a:r>
              <a:rPr lang="en-US" sz="1800">
                <a:solidFill>
                  <a:schemeClr val="accent2">
                    <a:lumMod val="75000"/>
                  </a:schemeClr>
                </a:solidFill>
              </a:rPr>
              <a:t>https://github.com/Span-09/Capstone_Project_CSE_130.git</a:t>
            </a:r>
            <a:endParaRPr lang="en-US">
              <a:solidFill>
                <a:schemeClr val="accent2">
                  <a:lumMod val="75000"/>
                </a:schemeClr>
              </a:solidFill>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6960C16B-5752-532B-9875-074AA06F9FFB}"/>
              </a:ext>
            </a:extLst>
          </p:cNvPr>
          <p:cNvPicPr>
            <a:picLocks noChangeAspect="1"/>
          </p:cNvPicPr>
          <p:nvPr/>
        </p:nvPicPr>
        <p:blipFill>
          <a:blip r:embed="rId3"/>
          <a:stretch>
            <a:fillRect/>
          </a:stretch>
        </p:blipFill>
        <p:spPr>
          <a:xfrm>
            <a:off x="976807" y="1085589"/>
            <a:ext cx="10509782" cy="4947781"/>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br>
              <a:rPr lang="en-US">
                <a:latin typeface="Cambria" panose="02040503050406030204" pitchFamily="18" charset="0"/>
                <a:ea typeface="Cambria" panose="02040503050406030204" pitchFamily="18" charset="0"/>
              </a:rPr>
            </a:br>
            <a:r>
              <a:rPr lang="en-US" sz="2000" b="1"/>
              <a:t>Online Chatbot Based Ticketing System Reference Links:</a:t>
            </a:r>
            <a:br>
              <a:rPr lang="en-US">
                <a:latin typeface="Cambria" panose="02040503050406030204" pitchFamily="18" charset="0"/>
                <a:ea typeface="Cambria" panose="02040503050406030204" pitchFamily="18" charset="0"/>
              </a:rPr>
            </a:br>
            <a:endParaRPr lang="en-US">
              <a:latin typeface="Cambria" panose="02040503050406030204" pitchFamily="18" charset="0"/>
              <a:ea typeface="Cambria" panose="02040503050406030204" pitchFamily="18" charset="0"/>
            </a:endParaRPr>
          </a:p>
          <a:p>
            <a:pPr marL="609600" lvl="1" indent="0">
              <a:spcBef>
                <a:spcPts val="0"/>
              </a:spcBef>
              <a:buNone/>
            </a:pPr>
            <a:r>
              <a:rPr lang="en-US"/>
              <a:t>[1].https://www.researchgate.net/publication/392265831_Online_Chatbot_Based_Ticketing_System</a:t>
            </a:r>
          </a:p>
          <a:p>
            <a:pPr marL="609600" lvl="1" indent="0">
              <a:spcBef>
                <a:spcPts val="0"/>
              </a:spcBef>
              <a:buNone/>
            </a:pPr>
            <a:endParaRPr lang="en-US">
              <a:latin typeface="Cambria" panose="02040503050406030204" pitchFamily="18" charset="0"/>
              <a:ea typeface="Cambria" panose="02040503050406030204" pitchFamily="18" charset="0"/>
            </a:endParaRPr>
          </a:p>
          <a:p>
            <a:pPr marL="609600" lvl="1" indent="0">
              <a:spcBef>
                <a:spcPts val="0"/>
              </a:spcBef>
              <a:buNone/>
            </a:pPr>
            <a:r>
              <a:rPr lang="en-US"/>
              <a:t>[2].JETIR2505189.pdf https://share.google/k7NzmJGyM0GfcRfJA</a:t>
            </a:r>
          </a:p>
          <a:p>
            <a:pPr marL="152400" indent="0">
              <a:spcBef>
                <a:spcPts val="0"/>
              </a:spcBef>
              <a:buNone/>
            </a:pPr>
            <a:endParaRPr lang="en-US">
              <a:latin typeface="Cambria" panose="02040503050406030204" pitchFamily="18" charset="0"/>
              <a:ea typeface="Cambria" panose="02040503050406030204" pitchFamily="18" charset="0"/>
            </a:endParaRPr>
          </a:p>
          <a:p>
            <a:pPr marL="152400" indent="0">
              <a:spcBef>
                <a:spcPts val="0"/>
              </a:spcBef>
              <a:buNone/>
            </a:pPr>
            <a:endParaRPr lang="en-US">
              <a:latin typeface="Cambria" panose="02040503050406030204" pitchFamily="18" charset="0"/>
              <a:ea typeface="Cambria" panose="02040503050406030204" pitchFamily="18" charset="0"/>
            </a:endParaRPr>
          </a:p>
          <a:p>
            <a:pPr marL="152400" indent="0">
              <a:spcBef>
                <a:spcPts val="0"/>
              </a:spcBef>
              <a:buNone/>
            </a:pPr>
            <a:endParaRPr>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1143</Words>
  <Application>Microsoft Office PowerPoint</Application>
  <PresentationFormat>Widescreen</PresentationFormat>
  <Paragraphs>102</Paragraphs>
  <Slides>13</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Bookman Old Style</vt:lpstr>
      <vt:lpstr>Cambria</vt:lpstr>
      <vt:lpstr>Times New Roman</vt:lpstr>
      <vt:lpstr>Verdana</vt:lpstr>
      <vt:lpstr>Wingdings</vt:lpstr>
      <vt:lpstr>Bioinformatics</vt:lpstr>
      <vt:lpstr>Online Chatbot based ticketing system</vt:lpstr>
      <vt:lpstr>Problem Statement Number: </vt:lpstr>
      <vt:lpstr>Content</vt:lpstr>
      <vt:lpstr>Content (continuation)..</vt:lpstr>
      <vt:lpstr>Content (continuation)..</vt:lpstr>
      <vt:lpstr>Analysis of Problem Statement</vt:lpstr>
      <vt:lpstr>Analysis of Problem Statement (contd...)</vt:lpstr>
      <vt:lpstr> Analysis of Problem Statement (contd...) </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Spandana KG</cp:lastModifiedBy>
  <cp:revision>5</cp:revision>
  <dcterms:modified xsi:type="dcterms:W3CDTF">2025-08-12T15:22:14Z</dcterms:modified>
</cp:coreProperties>
</file>